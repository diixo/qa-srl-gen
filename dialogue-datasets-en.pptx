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describes the implemented dialogue generator and its separate CLI trainer. It generates controlled English-language dialogues with known state. Trained-model quality requires separate evaluation; no training results are claimed here.</a:t>
            </a:r>
          </a:p>
          <a:p/>
          <a:p>
            <a:r>
              <a:t>Project sources:</a:t>
            </a:r>
          </a:p>
          <a:p>
            <a:r>
              <a:t>semantic_corpus/dialogue_generator/README.md</a:t>
            </a:r>
          </a:p>
          <a:p>
            <a:r>
              <a:t>ui/app_main/chat_dataset.py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examples: a desire without a reported outcome yields unknown; explicit denial yields no; an explicit report of a purchase yields yes. Simulator truth concerns the dialogue content, not independent verification of the real world. The mined_predicates task also distinguishes an event report from completion.</a:t>
            </a:r>
          </a:p>
          <a:p/>
          <a:p>
            <a:r>
              <a:t>Project sources:</a:t>
            </a:r>
          </a:p>
          <a:p>
            <a:r>
              <a:t>semantic_corpus/dialogue_generator/contrast.py</a:t>
            </a:r>
          </a:p>
          <a:p>
            <a:r>
              <a:t>semantic_corpus/dialogue_generator/models.py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DialogueGenerator constructs an Episode, state transitions and a final Query. Episode.validate() replays updates and checks the answer. Generation uses stored resources without calling an LLM or HTTP teacher. Enabling the token limit additionally requires a locally cached tokenizer.</a:t>
            </a:r>
          </a:p>
          <a:p/>
          <a:p>
            <a:r>
              <a:t>Project sources:</a:t>
            </a:r>
          </a:p>
          <a:p>
            <a:r>
              <a:t>semantic_corpus/dialogue_generator/generator.py</a:t>
            </a:r>
          </a:p>
          <a:p>
            <a:r>
              <a:t>semantic_corpus/dialogue_generator/models.py</a:t>
            </a:r>
          </a:p>
          <a:p>
            <a:r>
              <a:t>semantic_corpus/dialogue_generator/export.py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working inventory has 4,031 available predicate entries. This is not a count of verified verb senses. BuiltInPool reads one physical shared bank at data/mined-templates/. Resources originally mined from eng-base and subsequent validated mining results accumulate there, with per-source provenance and committed byte ranges. UI mining adds validated resources to this shared pool. Syntactic validation does not establish semantic truth.</a:t>
            </a:r>
          </a:p>
          <a:p/>
          <a:p>
            <a:r>
              <a:t>Project sources:</a:t>
            </a:r>
          </a:p>
          <a:p>
            <a:r>
              <a:t>semantic_corpus/resource_pool.py</a:t>
            </a:r>
          </a:p>
          <a:p>
            <a:r>
              <a:t>semantic_corpus/template_registry.py</a:t>
            </a:r>
          </a:p>
          <a:p>
            <a:r>
              <a:t>semantic_corpus/dialogue_generator/mined_bank.py</a:t>
            </a:r>
          </a:p>
          <a:p>
            <a:r>
              <a:t>ui/app_main/template_mining.py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grouping on this slide is for presentation purposes; task codes are listed in generator.py and TASK_LABELS. The tasks are recall, correction, different_people, negation, desire_vs_done, option_reference, ambiguous_reference, unknown, suggestion_vs_done, topic_return, retraction, capability, event_scope, event_progress, event_updates, event_states and mined_predicates. The task count does not measure open-ended conversational ability.</a:t>
            </a:r>
          </a:p>
          <a:p/>
          <a:p>
            <a:r>
              <a:t>Project sources:</a:t>
            </a:r>
          </a:p>
          <a:p>
            <a:r>
              <a:t>semantic_corpus/dialogue_generator/generator.py</a:t>
            </a:r>
          </a:p>
          <a:p>
            <a:r>
              <a:t>ui/app_main/chat_dataset.py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explanatory, not a literal serialization of Event. Event stores a predicate, typed arguments, temporal context, operators, phase and tense. For mined events, reported denotes a past report of a predication; it does not guarantee achievement of an endpoint. Evidence references and IDs are added by code.</a:t>
            </a:r>
          </a:p>
          <a:p/>
          <a:p>
            <a:r>
              <a:t>Project sources:</a:t>
            </a:r>
          </a:p>
          <a:p>
            <a:r>
              <a:t>semantic_corpus/dialogue_generator/events.py</a:t>
            </a:r>
          </a:p>
          <a:p>
            <a:r>
              <a:t>semantic_corpus/dialogue_generator/verb_operators.py</a:t>
            </a:r>
          </a:p>
          <a:p>
            <a:r>
              <a:t>semantic_corpus/dialogue_generator/mined_scenarios.py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examples illustrate supported constructions, not exhaustive coverage for every verb. Handwritten event_* scenarios select tenses and operator profiles. For mined_predicates, recognized source scope, passive voice and independent clauses can be retained. General Synthetic corpus templates are not expanded into all tenses by default.</a:t>
            </a:r>
          </a:p>
          <a:p/>
          <a:p>
            <a:r>
              <a:t>Project sources:</a:t>
            </a:r>
          </a:p>
          <a:p>
            <a:r>
              <a:t>semantic_corpus/dialogue_generator/event_scenarios.py</a:t>
            </a:r>
          </a:p>
          <a:p>
            <a:r>
              <a:t>semantic_corpus/dialogue_generator/mined_scenarios.py</a:t>
            </a:r>
          </a:p>
          <a:p>
            <a:r>
              <a:t>semantic_corpus/dialogue_generator/mined_scope.py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 and History are paired tasks: the same Episode and final answer, but different input context. Memory receives simulator-provided reference state (an oracle), so Memory quality alone does not test extraction. Extraction is exported per transition and deduplicated separately; it can have more rows than episodes. All views contain system/user/assistant messages.</a:t>
            </a:r>
          </a:p>
          <a:p/>
          <a:p>
            <a:r>
              <a:t>Project sources:</a:t>
            </a:r>
          </a:p>
          <a:p>
            <a:r>
              <a:t>semantic_corpus/dialogue_generator/export.py:response_row</a:t>
            </a:r>
          </a:p>
          <a:p>
            <a:r>
              <a:t>semantic_corpus/dialogue_generator/export.py:extraction_row</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utterance and target were taken from DialogueGenerator/desire_vs_done when preparing the original presentation. decode_update checks that the command text produces exactly the reference delta. Only the relevant utterance is shown; full input also includes Current memory, Assistant actions and Last assistant message. This illustrates the original flat task. Typed events use EVENT/MINED; complex quotations use QUOTE.</a:t>
            </a:r>
          </a:p>
          <a:p/>
          <a:p>
            <a:r>
              <a:t>Project sources:</a:t>
            </a:r>
          </a:p>
          <a:p>
            <a:r>
              <a:t>semantic_corpus/dialogue_generator/extraction_text.py</a:t>
            </a:r>
          </a:p>
          <a:p>
            <a:r>
              <a:t>semantic_corpus/dialogue_generator/export.py:extraction_row</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 has three messages: system, user and assistant. The im_start, im_end and pad special tokens are added to the GPT-2 tokenizer. Loss covers only the final assistant answer and its im_end token. System/user content, the role header and padding are masked with -100. The instructions are abbreviated on this slide; this is not the full training prompt. Outer record fields such as ID, task and scenario_key are not sent to the model.</a:t>
            </a:r>
          </a:p>
          <a:p/>
          <a:p>
            <a:r>
              <a:t>Project sources:</a:t>
            </a:r>
          </a:p>
          <a:p>
            <a:r>
              <a:t>semantic_corpus/dialogue_generator/trainer/chatml.py</a:t>
            </a:r>
          </a:p>
          <a:p>
            <a:r>
              <a:t>semantic_corpus/dialogue_generator/trainer/engine.py</a:t>
            </a:r>
          </a:p>
          <a:p>
            <a:r>
              <a:t>semantic_corpus/dialogue_generator/export.py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UI defaults: train=200, validation=20 and test=20 per task; user_assistant_only=True, mined_train=0, seed=42, max_length=768 and include_metadata=True. With 4,031 available predicate entries, train=15*200+3*4031=15093 and validation=test=16*20=320. These are calculated quotas, not results from a new run. If quotas cannot be filled after length filtering, generation fails. A positive Mined training dialogues value sets a separate exact quota; leaving it blank retains the regular per-task quota.</a:t>
            </a:r>
          </a:p>
          <a:p/>
          <a:p>
            <a:r>
              <a:t>Project sources:</a:t>
            </a:r>
          </a:p>
          <a:p>
            <a:r>
              <a:t>ui/app_main/chat_dataset.py</a:t>
            </a:r>
          </a:p>
          <a:p>
            <a:r>
              <a:t>semantic_corpus/dialogue_generator/export.py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 three directories contains train.json, validation.json and test.json: arrays of records containing messages. Memory and History have one target answer per episode; Extraction has separate rows for transitions, deduplicated by prompt. The manifest records versions, seed, quotas and fingerprints. Episode JSONL files preserve the audit trail independently of Include metadata. Length reports are created when max_length is enabled.</a:t>
            </a:r>
          </a:p>
          <a:p/>
          <a:p>
            <a:r>
              <a:t>Project sources:</a:t>
            </a:r>
          </a:p>
          <a:p>
            <a:r>
              <a:t>semantic_corpus/dialogue_generator/export.py</a:t>
            </a:r>
          </a:p>
          <a:p>
            <a:r>
              <a:t>ui/app_main/chat_dataset.py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Episode.validate replays transitions and checks the final answer. The generator and trainer check duplicates and split overlap; task families, surface patterns and common vocabulary can still be shared. decode_update checks command format and application against the supplied state. The 768-token limit covers the complete ChatML example, including the system instruction and answer; the generator replaces the whole episode. The trainer does not truncate overlong records. These checks do not establish LLM quality or guarantee the semantic correctness of mined NLP analyses.</a:t>
            </a:r>
          </a:p>
          <a:p/>
          <a:p>
            <a:r>
              <a:t>Project sources:</a:t>
            </a:r>
          </a:p>
          <a:p>
            <a:r>
              <a:t>semantic_corpus/dialogue_generator/models.py</a:t>
            </a:r>
          </a:p>
          <a:p>
            <a:r>
              <a:t>semantic_corpus/dialogue_generator/export.py</a:t>
            </a:r>
          </a:p>
          <a:p>
            <a:r>
              <a:t>semantic_corpus/dialogue_generator/token_limits.py</a:t>
            </a:r>
          </a:p>
          <a:p>
            <a:r>
              <a:t>semantic_corpus/dialogue_generator/trainer/data.py</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trainer uses standard pretrained gpt2 and transformers.Trainer. This command is an example, not a training run performed for this presentation. The extraction dataset directory must contain train.json and validation.json; the output directory must be new. GPU execution needs the appropriate PyTorch installation and requirements-training.txt dependencies. The trainer defaults to max_length=512, so explicitly use 768 for a dataset generated with that limit. Start from the same initial weights when comparing views independently. test.json is not used to select the best checkpoint.</a:t>
            </a:r>
          </a:p>
          <a:p/>
          <a:p>
            <a:r>
              <a:t>Project sources:</a:t>
            </a:r>
          </a:p>
          <a:p>
            <a:r>
              <a:t>semantic_corpus/dialogue_generator/trainer/__main__.py</a:t>
            </a:r>
          </a:p>
          <a:p>
            <a:r>
              <a:t>semantic_corpus/dialogue_generator/trainer/engine.py</a:t>
            </a:r>
          </a:p>
          <a:p>
            <a:r>
              <a:t>semantic_corpus/dialogue_generator/trainer/README.md</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Memory/History: answer loss, exact match and breakdowns by task/outcome. Extraction: parse/apply validity, update and final-state match, and false updates on NO_CHANGE. Current Extraction evaluation receives the reference previous state and does not measure error accumulation in long autonomous dialogues. The next experiments proposed here are controlled tense expansion, separate compositional/quotation reports and end-to-end Extraction→Memory evaluation. No model-training results are invented in this presentation.</a:t>
            </a:r>
          </a:p>
          <a:p/>
          <a:p>
            <a:r>
              <a:t>Project sources:</a:t>
            </a:r>
          </a:p>
          <a:p>
            <a:r>
              <a:t>semantic_corpus/dialogue_generator/trainer/engine.py</a:t>
            </a:r>
          </a:p>
          <a:p>
            <a:r>
              <a:t>semantic_corpus/dialogue_generator/trainer/README.md</a:t>
            </a:r>
          </a:p>
          <a:p/>
          <a:p>
            <a:r>
              <a:t>Implementation snapshot: 11 October 2026. Slide examples may be abbreviated for presentation.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33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QA-SRL GEN PROJECT · 11 OCTOBER 2026</a:t>
            </a:r>
          </a:p>
        </p:txBody>
      </p:sp>
      <p:sp>
        <p:nvSpPr>
          <p:cNvPr id="3" name="Rectangle 2"/>
          <p:cNvSpPr/>
          <p:nvPr/>
        </p:nvSpPr>
        <p:spPr>
          <a:xfrm>
            <a:off x="594360" y="6437376"/>
            <a:ext cx="11000232" cy="13716"/>
          </a:xfrm>
          <a:prstGeom prst="rect">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4360" y="6437376"/>
            <a:ext cx="733348"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D3DFEA"/>
                </a:solidFill>
                <a:latin typeface="Segoe UI"/>
              </a:defRPr>
            </a:pPr>
            <a:r>
              <a:t>QA-SRL GEN  /  DIALOGUE DATASETS</a:t>
            </a:r>
          </a:p>
        </p:txBody>
      </p:sp>
      <p:sp>
        <p:nvSpPr>
          <p:cNvPr id="6" name="TextBox 5"/>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D3DFEA"/>
                </a:solidFill>
                <a:latin typeface="Segoe UI"/>
              </a:defRPr>
            </a:pPr>
            <a:r>
              <a:t>01 / 15</a:t>
            </a:r>
          </a:p>
        </p:txBody>
      </p:sp>
      <p:sp>
        <p:nvSpPr>
          <p:cNvPr id="7" name="TextBox 6"/>
          <p:cNvSpPr txBox="1"/>
          <p:nvPr/>
        </p:nvSpPr>
        <p:spPr>
          <a:xfrm>
            <a:off x="603504" y="1225296"/>
            <a:ext cx="6400800" cy="2615184"/>
          </a:xfrm>
          <a:prstGeom prst="rect">
            <a:avLst/>
          </a:prstGeom>
          <a:noFill/>
        </p:spPr>
        <p:txBody>
          <a:bodyPr wrap="square" lIns="0" rIns="0" tIns="0" bIns="0" anchor="t">
            <a:spAutoFit/>
          </a:bodyPr>
          <a:lstStyle/>
          <a:p>
            <a:pPr algn="l">
              <a:lnSpc>
                <a:spcPct val="108000"/>
              </a:lnSpc>
              <a:spcBef>
                <a:spcPts val="0"/>
              </a:spcBef>
              <a:spcAft>
                <a:spcPts val="400"/>
              </a:spcAft>
              <a:defRPr lang="en-US" sz="4800" b="1">
                <a:solidFill>
                  <a:srgbClr val="FFFFFF"/>
                </a:solidFill>
                <a:latin typeface="Segoe UI"/>
              </a:defRPr>
            </a:pPr>
            <a:r>
              <a:t>Building</a:t>
            </a:r>
          </a:p>
          <a:p>
            <a:pPr algn="l">
              <a:lnSpc>
                <a:spcPct val="108000"/>
              </a:lnSpc>
              <a:spcBef>
                <a:spcPts val="0"/>
              </a:spcBef>
              <a:spcAft>
                <a:spcPts val="400"/>
              </a:spcAft>
              <a:defRPr lang="en-US" sz="4800" b="1">
                <a:solidFill>
                  <a:srgbClr val="FFFFFF"/>
                </a:solidFill>
                <a:latin typeface="Segoe UI"/>
              </a:defRPr>
            </a:pPr>
            <a:r>
              <a:t>dialogue</a:t>
            </a:r>
          </a:p>
          <a:p>
            <a:pPr algn="l">
              <a:lnSpc>
                <a:spcPct val="108000"/>
              </a:lnSpc>
              <a:spcBef>
                <a:spcPts val="0"/>
              </a:spcBef>
              <a:spcAft>
                <a:spcPts val="400"/>
              </a:spcAft>
              <a:defRPr lang="en-US" sz="4800" b="1">
                <a:solidFill>
                  <a:srgbClr val="FFFFFF"/>
                </a:solidFill>
                <a:latin typeface="Segoe UI"/>
              </a:defRPr>
            </a:pPr>
            <a:r>
              <a:t>datasets</a:t>
            </a:r>
          </a:p>
        </p:txBody>
      </p:sp>
      <p:sp>
        <p:nvSpPr>
          <p:cNvPr id="8" name="TextBox 7"/>
          <p:cNvSpPr txBox="1"/>
          <p:nvPr/>
        </p:nvSpPr>
        <p:spPr>
          <a:xfrm>
            <a:off x="640080" y="4187952"/>
            <a:ext cx="6309360" cy="832104"/>
          </a:xfrm>
          <a:prstGeom prst="rect">
            <a:avLst/>
          </a:prstGeom>
          <a:noFill/>
        </p:spPr>
        <p:txBody>
          <a:bodyPr wrap="square" lIns="0" rIns="0" tIns="0" bIns="0" anchor="t">
            <a:spAutoFit/>
          </a:bodyPr>
          <a:lstStyle/>
          <a:p>
            <a:pPr algn="l">
              <a:lnSpc>
                <a:spcPct val="108000"/>
              </a:lnSpc>
              <a:spcBef>
                <a:spcPts val="0"/>
              </a:spcBef>
              <a:spcAft>
                <a:spcPts val="400"/>
              </a:spcAft>
              <a:defRPr lang="en-US" sz="2300" b="0">
                <a:solidFill>
                  <a:srgbClr val="D3DFEA"/>
                </a:solidFill>
                <a:latin typeface="Segoe UI"/>
              </a:defRPr>
            </a:pPr>
            <a:r>
              <a:t>From semantic events</a:t>
            </a:r>
          </a:p>
          <a:p>
            <a:pPr algn="l">
              <a:lnSpc>
                <a:spcPct val="108000"/>
              </a:lnSpc>
              <a:spcBef>
                <a:spcPts val="0"/>
              </a:spcBef>
              <a:spcAft>
                <a:spcPts val="400"/>
              </a:spcAft>
              <a:defRPr lang="en-US" sz="2300" b="0">
                <a:solidFill>
                  <a:srgbClr val="D3DFEA"/>
                </a:solidFill>
                <a:latin typeface="Segoe UI"/>
              </a:defRPr>
            </a:pPr>
            <a:r>
              <a:t>to training examples</a:t>
            </a:r>
          </a:p>
        </p:txBody>
      </p:sp>
      <p:sp>
        <p:nvSpPr>
          <p:cNvPr id="9" name="Rounded Rectangle 8"/>
          <p:cNvSpPr/>
          <p:nvPr/>
        </p:nvSpPr>
        <p:spPr>
          <a:xfrm>
            <a:off x="640080" y="5641848"/>
            <a:ext cx="1207008" cy="310896"/>
          </a:xfrm>
          <a:prstGeom prst="roundRect">
            <a:avLst>
              <a:gd name="adj" fmla="val 12000"/>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1" y="5682996"/>
            <a:ext cx="1060704" cy="210312"/>
          </a:xfrm>
          <a:prstGeom prst="rect">
            <a:avLst/>
          </a:prstGeom>
          <a:noFill/>
        </p:spPr>
        <p:txBody>
          <a:bodyPr wrap="square" lIns="0" rIns="0" tIns="0" bIns="0" anchor="t">
            <a:spAutoFit/>
          </a:bodyPr>
          <a:lstStyle/>
          <a:p>
            <a:pPr algn="ctr">
              <a:lnSpc>
                <a:spcPct val="108000"/>
              </a:lnSpc>
              <a:spcBef>
                <a:spcPts val="0"/>
              </a:spcBef>
              <a:spcAft>
                <a:spcPts val="200"/>
              </a:spcAft>
              <a:defRPr lang="en-US" sz="1050" b="1">
                <a:solidFill>
                  <a:srgbClr val="122337"/>
                </a:solidFill>
                <a:latin typeface="Segoe UI"/>
              </a:defRPr>
            </a:pPr>
            <a:r>
              <a:t>MEMORY</a:t>
            </a:r>
          </a:p>
        </p:txBody>
      </p:sp>
      <p:sp>
        <p:nvSpPr>
          <p:cNvPr id="11" name="Rounded Rectangle 10"/>
          <p:cNvSpPr/>
          <p:nvPr/>
        </p:nvSpPr>
        <p:spPr>
          <a:xfrm>
            <a:off x="2002536" y="5641848"/>
            <a:ext cx="1207008" cy="310896"/>
          </a:xfrm>
          <a:prstGeom prst="roundRect">
            <a:avLst>
              <a:gd name="adj" fmla="val 12000"/>
            </a:avLst>
          </a:prstGeom>
          <a:solidFill>
            <a:srgbClr val="97C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75688" y="5682996"/>
            <a:ext cx="1060704" cy="210312"/>
          </a:xfrm>
          <a:prstGeom prst="rect">
            <a:avLst/>
          </a:prstGeom>
          <a:noFill/>
        </p:spPr>
        <p:txBody>
          <a:bodyPr wrap="square" lIns="0" rIns="0" tIns="0" bIns="0" anchor="t">
            <a:spAutoFit/>
          </a:bodyPr>
          <a:lstStyle/>
          <a:p>
            <a:pPr algn="ctr">
              <a:lnSpc>
                <a:spcPct val="108000"/>
              </a:lnSpc>
              <a:spcBef>
                <a:spcPts val="0"/>
              </a:spcBef>
              <a:spcAft>
                <a:spcPts val="200"/>
              </a:spcAft>
              <a:defRPr lang="en-US" sz="1050" b="1">
                <a:solidFill>
                  <a:srgbClr val="122337"/>
                </a:solidFill>
                <a:latin typeface="Segoe UI"/>
              </a:defRPr>
            </a:pPr>
            <a:r>
              <a:t>HISTORY</a:t>
            </a:r>
          </a:p>
        </p:txBody>
      </p:sp>
      <p:sp>
        <p:nvSpPr>
          <p:cNvPr id="13" name="Rounded Rectangle 12"/>
          <p:cNvSpPr/>
          <p:nvPr/>
        </p:nvSpPr>
        <p:spPr>
          <a:xfrm>
            <a:off x="3364992" y="5641848"/>
            <a:ext cx="1636776" cy="310896"/>
          </a:xfrm>
          <a:prstGeom prst="roundRect">
            <a:avLst>
              <a:gd name="adj" fmla="val 12000"/>
            </a:avLst>
          </a:prstGeom>
          <a:solidFill>
            <a:srgbClr val="FF9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8144" y="5682996"/>
            <a:ext cx="1490472" cy="210312"/>
          </a:xfrm>
          <a:prstGeom prst="rect">
            <a:avLst/>
          </a:prstGeom>
          <a:noFill/>
        </p:spPr>
        <p:txBody>
          <a:bodyPr wrap="square" lIns="0" rIns="0" tIns="0" bIns="0" anchor="t">
            <a:spAutoFit/>
          </a:bodyPr>
          <a:lstStyle/>
          <a:p>
            <a:pPr algn="ctr">
              <a:lnSpc>
                <a:spcPct val="108000"/>
              </a:lnSpc>
              <a:spcBef>
                <a:spcPts val="0"/>
              </a:spcBef>
              <a:spcAft>
                <a:spcPts val="200"/>
              </a:spcAft>
              <a:defRPr lang="en-US" sz="1050" b="1">
                <a:solidFill>
                  <a:srgbClr val="122337"/>
                </a:solidFill>
                <a:latin typeface="Segoe UI"/>
              </a:defRPr>
            </a:pPr>
            <a:r>
              <a:t>EXTRACTION</a:t>
            </a:r>
          </a:p>
        </p:txBody>
      </p:sp>
      <p:sp>
        <p:nvSpPr>
          <p:cNvPr id="15" name="Rounded Rectangle 14"/>
          <p:cNvSpPr/>
          <p:nvPr/>
        </p:nvSpPr>
        <p:spPr>
          <a:xfrm>
            <a:off x="7342631" y="1261872"/>
            <a:ext cx="4096512" cy="4443984"/>
          </a:xfrm>
          <a:prstGeom prst="roundRect">
            <a:avLst>
              <a:gd name="adj" fmla="val 12000"/>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626096" y="1572768"/>
            <a:ext cx="3566160" cy="384048"/>
          </a:xfrm>
          <a:prstGeom prst="rect">
            <a:avLst/>
          </a:prstGeom>
          <a:noFill/>
        </p:spPr>
        <p:txBody>
          <a:bodyPr wrap="square" lIns="0" rIns="0" tIns="0" bIns="0" anchor="t">
            <a:spAutoFit/>
          </a:bodyPr>
          <a:lstStyle/>
          <a:p>
            <a:pPr algn="l">
              <a:lnSpc>
                <a:spcPct val="108000"/>
              </a:lnSpc>
              <a:spcBef>
                <a:spcPts val="0"/>
              </a:spcBef>
              <a:spcAft>
                <a:spcPts val="200"/>
              </a:spcAft>
              <a:defRPr lang="en-US" sz="1100" b="1">
                <a:solidFill>
                  <a:srgbClr val="45D6AF"/>
                </a:solidFill>
                <a:latin typeface="Segoe UI"/>
              </a:defRPr>
            </a:pPr>
            <a:r>
              <a:t>ONE UTTERANCE. PRECISE MEANING.</a:t>
            </a:r>
          </a:p>
        </p:txBody>
      </p:sp>
      <p:sp>
        <p:nvSpPr>
          <p:cNvPr id="17" name="Rounded Rectangle 16"/>
          <p:cNvSpPr/>
          <p:nvPr/>
        </p:nvSpPr>
        <p:spPr>
          <a:xfrm>
            <a:off x="7607808" y="2194560"/>
            <a:ext cx="3547872" cy="1014984"/>
          </a:xfrm>
          <a:prstGeom prst="roundRect">
            <a:avLst>
              <a:gd name="adj" fmla="val 12000"/>
            </a:avLst>
          </a:prstGeom>
          <a:solidFill>
            <a:srgbClr val="294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54696" y="2432304"/>
            <a:ext cx="3072384" cy="566928"/>
          </a:xfrm>
          <a:prstGeom prst="rect">
            <a:avLst/>
          </a:prstGeom>
          <a:noFill/>
        </p:spPr>
        <p:txBody>
          <a:bodyPr wrap="square" lIns="0" rIns="0" tIns="0" bIns="0" anchor="t">
            <a:spAutoFit/>
          </a:bodyPr>
          <a:lstStyle/>
          <a:p>
            <a:pPr algn="l">
              <a:lnSpc>
                <a:spcPct val="108000"/>
              </a:lnSpc>
              <a:spcBef>
                <a:spcPts val="0"/>
              </a:spcBef>
              <a:spcAft>
                <a:spcPts val="400"/>
              </a:spcAft>
              <a:defRPr lang="en-US" sz="2100" b="0">
                <a:solidFill>
                  <a:srgbClr val="FFFFFF"/>
                </a:solidFill>
                <a:latin typeface="Segoe UI"/>
              </a:defRPr>
            </a:pPr>
            <a:r>
              <a:t>“I want to buy a book.”</a:t>
            </a:r>
          </a:p>
        </p:txBody>
      </p:sp>
      <p:sp>
        <p:nvSpPr>
          <p:cNvPr id="19" name="TextBox 18"/>
          <p:cNvSpPr txBox="1"/>
          <p:nvPr/>
        </p:nvSpPr>
        <p:spPr>
          <a:xfrm>
            <a:off x="7671816" y="3602736"/>
            <a:ext cx="1325880" cy="365760"/>
          </a:xfrm>
          <a:prstGeom prst="rect">
            <a:avLst/>
          </a:prstGeom>
          <a:noFill/>
        </p:spPr>
        <p:txBody>
          <a:bodyPr wrap="square" lIns="0" rIns="0" tIns="0" bIns="0" anchor="t">
            <a:spAutoFit/>
          </a:bodyPr>
          <a:lstStyle/>
          <a:p>
            <a:pPr algn="l">
              <a:lnSpc>
                <a:spcPct val="108000"/>
              </a:lnSpc>
              <a:spcBef>
                <a:spcPts val="0"/>
              </a:spcBef>
              <a:spcAft>
                <a:spcPts val="400"/>
              </a:spcAft>
              <a:defRPr lang="en-US" sz="2000" b="1">
                <a:solidFill>
                  <a:srgbClr val="45D6AF"/>
                </a:solidFill>
                <a:latin typeface="Segoe UI"/>
              </a:defRPr>
            </a:pPr>
            <a:r>
              <a:t>desire</a:t>
            </a:r>
          </a:p>
        </p:txBody>
      </p:sp>
      <p:sp>
        <p:nvSpPr>
          <p:cNvPr id="20" name="Right Arrow 19"/>
          <p:cNvSpPr/>
          <p:nvPr/>
        </p:nvSpPr>
        <p:spPr>
          <a:xfrm>
            <a:off x="9144000" y="3730752"/>
            <a:ext cx="329184" cy="173736"/>
          </a:xfrm>
          <a:prstGeom prst="rightArrow">
            <a:avLst/>
          </a:prstGeom>
          <a:solidFill>
            <a:srgbClr val="D3DF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20072" y="3602736"/>
            <a:ext cx="1344168" cy="365760"/>
          </a:xfrm>
          <a:prstGeom prst="rect">
            <a:avLst/>
          </a:prstGeom>
          <a:noFill/>
        </p:spPr>
        <p:txBody>
          <a:bodyPr wrap="square" lIns="0" rIns="0" tIns="0" bIns="0" anchor="t">
            <a:spAutoFit/>
          </a:bodyPr>
          <a:lstStyle/>
          <a:p>
            <a:pPr algn="l">
              <a:lnSpc>
                <a:spcPct val="108000"/>
              </a:lnSpc>
              <a:spcBef>
                <a:spcPts val="0"/>
              </a:spcBef>
              <a:spcAft>
                <a:spcPts val="400"/>
              </a:spcAft>
              <a:defRPr lang="en-US" sz="2000" b="1">
                <a:solidFill>
                  <a:srgbClr val="FFFFFF"/>
                </a:solidFill>
                <a:latin typeface="Segoe UI"/>
              </a:defRPr>
            </a:pPr>
            <a:r>
              <a:t>purchase?</a:t>
            </a:r>
          </a:p>
        </p:txBody>
      </p:sp>
      <p:sp>
        <p:nvSpPr>
          <p:cNvPr id="22" name="Rounded Rectangle 21"/>
          <p:cNvSpPr/>
          <p:nvPr/>
        </p:nvSpPr>
        <p:spPr>
          <a:xfrm>
            <a:off x="8485632" y="4361688"/>
            <a:ext cx="1691640" cy="310896"/>
          </a:xfrm>
          <a:prstGeom prst="roundRect">
            <a:avLst>
              <a:gd name="adj" fmla="val 12000"/>
            </a:avLst>
          </a:prstGeom>
          <a:solidFill>
            <a:srgbClr val="B6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58784" y="4402836"/>
            <a:ext cx="1545336" cy="210312"/>
          </a:xfrm>
          <a:prstGeom prst="rect">
            <a:avLst/>
          </a:prstGeom>
          <a:noFill/>
        </p:spPr>
        <p:txBody>
          <a:bodyPr wrap="square" lIns="0" rIns="0" tIns="0" bIns="0" anchor="t">
            <a:spAutoFit/>
          </a:bodyPr>
          <a:lstStyle/>
          <a:p>
            <a:pPr algn="ctr">
              <a:lnSpc>
                <a:spcPct val="108000"/>
              </a:lnSpc>
              <a:spcBef>
                <a:spcPts val="0"/>
              </a:spcBef>
              <a:spcAft>
                <a:spcPts val="200"/>
              </a:spcAft>
              <a:defRPr lang="en-US" sz="1050" b="1">
                <a:solidFill>
                  <a:srgbClr val="122337"/>
                </a:solidFill>
                <a:latin typeface="Segoe UI"/>
              </a:defRPr>
            </a:pPr>
            <a:r>
              <a:t>UNKNOWN</a:t>
            </a:r>
          </a:p>
        </p:txBody>
      </p:sp>
      <p:sp>
        <p:nvSpPr>
          <p:cNvPr id="24" name="TextBox 23"/>
          <p:cNvSpPr txBox="1"/>
          <p:nvPr/>
        </p:nvSpPr>
        <p:spPr>
          <a:xfrm>
            <a:off x="7626096" y="4983480"/>
            <a:ext cx="3493008" cy="384048"/>
          </a:xfrm>
          <a:prstGeom prst="rect">
            <a:avLst/>
          </a:prstGeom>
          <a:noFill/>
        </p:spPr>
        <p:txBody>
          <a:bodyPr wrap="square" lIns="0" rIns="0" tIns="0" bIns="0" anchor="t">
            <a:spAutoFit/>
          </a:bodyPr>
          <a:lstStyle/>
          <a:p>
            <a:pPr algn="l">
              <a:lnSpc>
                <a:spcPct val="108000"/>
              </a:lnSpc>
              <a:spcBef>
                <a:spcPts val="0"/>
              </a:spcBef>
              <a:spcAft>
                <a:spcPts val="200"/>
              </a:spcAft>
              <a:defRPr lang="en-US" sz="1420" b="0">
                <a:solidFill>
                  <a:srgbClr val="D3DFEA"/>
                </a:solidFill>
                <a:latin typeface="Segoe UI"/>
              </a:defRPr>
            </a:pPr>
            <a:r>
              <a:t>No outcome has been reported yet.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01 / WHY A GENERATOR?</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One question. Three kinds of evidence.</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Question: “Did I buy a book?” The answer depends on what the user has said.</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1466697"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02 / 15</a:t>
            </a:r>
          </a:p>
        </p:txBody>
      </p:sp>
      <p:sp>
        <p:nvSpPr>
          <p:cNvPr id="9" name="Rounded Rectangle 8"/>
          <p:cNvSpPr/>
          <p:nvPr/>
        </p:nvSpPr>
        <p:spPr>
          <a:xfrm>
            <a:off x="594360" y="2194560"/>
            <a:ext cx="3483864" cy="3529584"/>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 y="2468880"/>
            <a:ext cx="3017520" cy="292608"/>
          </a:xfrm>
          <a:prstGeom prst="rect">
            <a:avLst/>
          </a:prstGeom>
          <a:noFill/>
        </p:spPr>
        <p:txBody>
          <a:bodyPr wrap="square" lIns="0" rIns="0" tIns="0" bIns="0" anchor="t">
            <a:spAutoFit/>
          </a:bodyPr>
          <a:lstStyle/>
          <a:p>
            <a:pPr algn="l">
              <a:lnSpc>
                <a:spcPct val="108000"/>
              </a:lnSpc>
              <a:spcBef>
                <a:spcPts val="0"/>
              </a:spcBef>
              <a:spcAft>
                <a:spcPts val="200"/>
              </a:spcAft>
              <a:defRPr lang="en-US" sz="1100" b="1">
                <a:solidFill>
                  <a:srgbClr val="607487"/>
                </a:solidFill>
                <a:latin typeface="Segoe UI"/>
              </a:defRPr>
            </a:pPr>
            <a:r>
              <a:t>DESIRE</a:t>
            </a:r>
          </a:p>
        </p:txBody>
      </p:sp>
      <p:sp>
        <p:nvSpPr>
          <p:cNvPr id="11" name="TextBox 10"/>
          <p:cNvSpPr txBox="1"/>
          <p:nvPr/>
        </p:nvSpPr>
        <p:spPr>
          <a:xfrm>
            <a:off x="813816" y="2971800"/>
            <a:ext cx="3044952" cy="1069848"/>
          </a:xfrm>
          <a:prstGeom prst="rect">
            <a:avLst/>
          </a:prstGeom>
          <a:noFill/>
        </p:spPr>
        <p:txBody>
          <a:bodyPr wrap="square" lIns="0" rIns="0" tIns="0" bIns="0" anchor="t">
            <a:spAutoFit/>
          </a:bodyPr>
          <a:lstStyle/>
          <a:p>
            <a:pPr algn="l">
              <a:lnSpc>
                <a:spcPct val="108000"/>
              </a:lnSpc>
              <a:spcBef>
                <a:spcPts val="0"/>
              </a:spcBef>
              <a:spcAft>
                <a:spcPts val="400"/>
              </a:spcAft>
              <a:defRPr lang="en-US" sz="2600" b="1">
                <a:solidFill>
                  <a:srgbClr val="122337"/>
                </a:solidFill>
                <a:latin typeface="Segoe UI"/>
              </a:defRPr>
            </a:pPr>
            <a:r>
              <a:t>I want to buy</a:t>
            </a:r>
          </a:p>
          <a:p>
            <a:pPr algn="l">
              <a:lnSpc>
                <a:spcPct val="108000"/>
              </a:lnSpc>
              <a:spcBef>
                <a:spcPts val="0"/>
              </a:spcBef>
              <a:spcAft>
                <a:spcPts val="400"/>
              </a:spcAft>
              <a:defRPr lang="en-US" sz="2600" b="1">
                <a:solidFill>
                  <a:srgbClr val="122337"/>
                </a:solidFill>
                <a:latin typeface="Segoe UI"/>
              </a:defRPr>
            </a:pPr>
            <a:r>
              <a:t>a book.</a:t>
            </a:r>
          </a:p>
        </p:txBody>
      </p:sp>
      <p:sp>
        <p:nvSpPr>
          <p:cNvPr id="12" name="TextBox 11"/>
          <p:cNvSpPr txBox="1"/>
          <p:nvPr/>
        </p:nvSpPr>
        <p:spPr>
          <a:xfrm>
            <a:off x="813816" y="4343400"/>
            <a:ext cx="3017520" cy="731520"/>
          </a:xfrm>
          <a:prstGeom prst="rect">
            <a:avLst/>
          </a:prstGeom>
          <a:noFill/>
        </p:spPr>
        <p:txBody>
          <a:bodyPr wrap="square" lIns="0" rIns="0" tIns="0" bIns="0" anchor="t">
            <a:spAutoFit/>
          </a:bodyPr>
          <a:lstStyle/>
          <a:p>
            <a:pPr algn="l">
              <a:lnSpc>
                <a:spcPct val="108000"/>
              </a:lnSpc>
              <a:spcBef>
                <a:spcPts val="0"/>
              </a:spcBef>
              <a:spcAft>
                <a:spcPts val="200"/>
              </a:spcAft>
              <a:defRPr lang="en-US" sz="1650" b="0">
                <a:solidFill>
                  <a:srgbClr val="607487"/>
                </a:solidFill>
                <a:latin typeface="Segoe UI"/>
              </a:defRPr>
            </a:pPr>
            <a:r>
              <a:t>No outcome has</a:t>
            </a:r>
          </a:p>
          <a:p>
            <a:pPr algn="l">
              <a:lnSpc>
                <a:spcPct val="108000"/>
              </a:lnSpc>
              <a:spcBef>
                <a:spcPts val="0"/>
              </a:spcBef>
              <a:spcAft>
                <a:spcPts val="200"/>
              </a:spcAft>
              <a:defRPr lang="en-US" sz="1650" b="0">
                <a:solidFill>
                  <a:srgbClr val="607487"/>
                </a:solidFill>
                <a:latin typeface="Segoe UI"/>
              </a:defRPr>
            </a:pPr>
            <a:r>
              <a:t>been reported yet.</a:t>
            </a:r>
          </a:p>
        </p:txBody>
      </p:sp>
      <p:sp>
        <p:nvSpPr>
          <p:cNvPr id="13" name="Rounded Rectangle 12"/>
          <p:cNvSpPr/>
          <p:nvPr/>
        </p:nvSpPr>
        <p:spPr>
          <a:xfrm>
            <a:off x="813816" y="5157216"/>
            <a:ext cx="1307592" cy="310896"/>
          </a:xfrm>
          <a:prstGeom prst="roundRect">
            <a:avLst>
              <a:gd name="adj" fmla="val 12000"/>
            </a:avLst>
          </a:prstGeom>
          <a:solidFill>
            <a:srgbClr val="B6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6968" y="5198364"/>
            <a:ext cx="1161288" cy="210312"/>
          </a:xfrm>
          <a:prstGeom prst="rect">
            <a:avLst/>
          </a:prstGeom>
          <a:noFill/>
        </p:spPr>
        <p:txBody>
          <a:bodyPr wrap="square" lIns="0" rIns="0" tIns="0" bIns="0" anchor="t">
            <a:spAutoFit/>
          </a:bodyPr>
          <a:lstStyle/>
          <a:p>
            <a:pPr algn="ctr">
              <a:lnSpc>
                <a:spcPct val="108000"/>
              </a:lnSpc>
              <a:spcBef>
                <a:spcPts val="0"/>
              </a:spcBef>
              <a:spcAft>
                <a:spcPts val="200"/>
              </a:spcAft>
              <a:defRPr lang="en-US" sz="1050" b="1">
                <a:solidFill>
                  <a:srgbClr val="122337"/>
                </a:solidFill>
                <a:latin typeface="Segoe UI"/>
              </a:defRPr>
            </a:pPr>
            <a:r>
              <a:t>UNKNOWN</a:t>
            </a:r>
          </a:p>
        </p:txBody>
      </p:sp>
      <p:sp>
        <p:nvSpPr>
          <p:cNvPr id="15" name="Rounded Rectangle 14"/>
          <p:cNvSpPr/>
          <p:nvPr/>
        </p:nvSpPr>
        <p:spPr>
          <a:xfrm>
            <a:off x="4352544" y="2194560"/>
            <a:ext cx="3483864" cy="3529584"/>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2468880"/>
            <a:ext cx="3017520" cy="292608"/>
          </a:xfrm>
          <a:prstGeom prst="rect">
            <a:avLst/>
          </a:prstGeom>
          <a:noFill/>
        </p:spPr>
        <p:txBody>
          <a:bodyPr wrap="square" lIns="0" rIns="0" tIns="0" bIns="0" anchor="t">
            <a:spAutoFit/>
          </a:bodyPr>
          <a:lstStyle/>
          <a:p>
            <a:pPr algn="l">
              <a:lnSpc>
                <a:spcPct val="108000"/>
              </a:lnSpc>
              <a:spcBef>
                <a:spcPts val="0"/>
              </a:spcBef>
              <a:spcAft>
                <a:spcPts val="200"/>
              </a:spcAft>
              <a:defRPr lang="en-US" sz="1100" b="1">
                <a:solidFill>
                  <a:srgbClr val="607487"/>
                </a:solidFill>
                <a:latin typeface="Segoe UI"/>
              </a:defRPr>
            </a:pPr>
            <a:r>
              <a:t>NEGATION</a:t>
            </a:r>
          </a:p>
        </p:txBody>
      </p:sp>
      <p:sp>
        <p:nvSpPr>
          <p:cNvPr id="17" name="TextBox 16"/>
          <p:cNvSpPr txBox="1"/>
          <p:nvPr/>
        </p:nvSpPr>
        <p:spPr>
          <a:xfrm>
            <a:off x="4572000" y="2971800"/>
            <a:ext cx="3044952" cy="1069848"/>
          </a:xfrm>
          <a:prstGeom prst="rect">
            <a:avLst/>
          </a:prstGeom>
          <a:noFill/>
        </p:spPr>
        <p:txBody>
          <a:bodyPr wrap="square" lIns="0" rIns="0" tIns="0" bIns="0" anchor="t">
            <a:spAutoFit/>
          </a:bodyPr>
          <a:lstStyle/>
          <a:p>
            <a:pPr algn="l">
              <a:lnSpc>
                <a:spcPct val="108000"/>
              </a:lnSpc>
              <a:spcBef>
                <a:spcPts val="0"/>
              </a:spcBef>
              <a:spcAft>
                <a:spcPts val="400"/>
              </a:spcAft>
              <a:defRPr lang="en-US" sz="2600" b="1">
                <a:solidFill>
                  <a:srgbClr val="122337"/>
                </a:solidFill>
                <a:latin typeface="Segoe UI"/>
              </a:defRPr>
            </a:pPr>
            <a:r>
              <a:t>I didn’t buy</a:t>
            </a:r>
          </a:p>
          <a:p>
            <a:pPr algn="l">
              <a:lnSpc>
                <a:spcPct val="108000"/>
              </a:lnSpc>
              <a:spcBef>
                <a:spcPts val="0"/>
              </a:spcBef>
              <a:spcAft>
                <a:spcPts val="400"/>
              </a:spcAft>
              <a:defRPr lang="en-US" sz="2600" b="1">
                <a:solidFill>
                  <a:srgbClr val="122337"/>
                </a:solidFill>
                <a:latin typeface="Segoe UI"/>
              </a:defRPr>
            </a:pPr>
            <a:r>
              <a:t>a book.</a:t>
            </a:r>
          </a:p>
        </p:txBody>
      </p:sp>
      <p:sp>
        <p:nvSpPr>
          <p:cNvPr id="18" name="TextBox 17"/>
          <p:cNvSpPr txBox="1"/>
          <p:nvPr/>
        </p:nvSpPr>
        <p:spPr>
          <a:xfrm>
            <a:off x="4572000" y="4343400"/>
            <a:ext cx="3017520" cy="731520"/>
          </a:xfrm>
          <a:prstGeom prst="rect">
            <a:avLst/>
          </a:prstGeom>
          <a:noFill/>
        </p:spPr>
        <p:txBody>
          <a:bodyPr wrap="square" lIns="0" rIns="0" tIns="0" bIns="0" anchor="t">
            <a:spAutoFit/>
          </a:bodyPr>
          <a:lstStyle/>
          <a:p>
            <a:pPr algn="l">
              <a:lnSpc>
                <a:spcPct val="108000"/>
              </a:lnSpc>
              <a:spcBef>
                <a:spcPts val="0"/>
              </a:spcBef>
              <a:spcAft>
                <a:spcPts val="200"/>
              </a:spcAft>
              <a:defRPr lang="en-US" sz="1650" b="0">
                <a:solidFill>
                  <a:srgbClr val="607487"/>
                </a:solidFill>
                <a:latin typeface="Segoe UI"/>
              </a:defRPr>
            </a:pPr>
            <a:r>
              <a:t>The user explicitly</a:t>
            </a:r>
          </a:p>
          <a:p>
            <a:pPr algn="l">
              <a:lnSpc>
                <a:spcPct val="108000"/>
              </a:lnSpc>
              <a:spcBef>
                <a:spcPts val="0"/>
              </a:spcBef>
              <a:spcAft>
                <a:spcPts val="200"/>
              </a:spcAft>
              <a:defRPr lang="en-US" sz="1650" b="0">
                <a:solidFill>
                  <a:srgbClr val="607487"/>
                </a:solidFill>
                <a:latin typeface="Segoe UI"/>
              </a:defRPr>
            </a:pPr>
            <a:r>
              <a:t>denies the purchase.</a:t>
            </a:r>
          </a:p>
        </p:txBody>
      </p:sp>
      <p:sp>
        <p:nvSpPr>
          <p:cNvPr id="19" name="Rounded Rectangle 18"/>
          <p:cNvSpPr/>
          <p:nvPr/>
        </p:nvSpPr>
        <p:spPr>
          <a:xfrm>
            <a:off x="4572000" y="5157216"/>
            <a:ext cx="1307592" cy="310896"/>
          </a:xfrm>
          <a:prstGeom prst="roundRect">
            <a:avLst>
              <a:gd name="adj" fmla="val 12000"/>
            </a:avLst>
          </a:prstGeom>
          <a:solidFill>
            <a:srgbClr val="FF9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5152" y="5198364"/>
            <a:ext cx="1161288" cy="210312"/>
          </a:xfrm>
          <a:prstGeom prst="rect">
            <a:avLst/>
          </a:prstGeom>
          <a:noFill/>
        </p:spPr>
        <p:txBody>
          <a:bodyPr wrap="square" lIns="0" rIns="0" tIns="0" bIns="0" anchor="t">
            <a:spAutoFit/>
          </a:bodyPr>
          <a:lstStyle/>
          <a:p>
            <a:pPr algn="ctr">
              <a:lnSpc>
                <a:spcPct val="108000"/>
              </a:lnSpc>
              <a:spcBef>
                <a:spcPts val="0"/>
              </a:spcBef>
              <a:spcAft>
                <a:spcPts val="200"/>
              </a:spcAft>
              <a:defRPr lang="en-US" sz="1050" b="1">
                <a:solidFill>
                  <a:srgbClr val="122337"/>
                </a:solidFill>
                <a:latin typeface="Segoe UI"/>
              </a:defRPr>
            </a:pPr>
            <a:r>
              <a:t>NO</a:t>
            </a:r>
          </a:p>
        </p:txBody>
      </p:sp>
      <p:sp>
        <p:nvSpPr>
          <p:cNvPr id="21" name="Rounded Rectangle 20"/>
          <p:cNvSpPr/>
          <p:nvPr/>
        </p:nvSpPr>
        <p:spPr>
          <a:xfrm>
            <a:off x="8110727" y="2194560"/>
            <a:ext cx="3483864" cy="3529584"/>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0183" y="2468880"/>
            <a:ext cx="3017520" cy="292608"/>
          </a:xfrm>
          <a:prstGeom prst="rect">
            <a:avLst/>
          </a:prstGeom>
          <a:noFill/>
        </p:spPr>
        <p:txBody>
          <a:bodyPr wrap="square" lIns="0" rIns="0" tIns="0" bIns="0" anchor="t">
            <a:spAutoFit/>
          </a:bodyPr>
          <a:lstStyle/>
          <a:p>
            <a:pPr algn="l">
              <a:lnSpc>
                <a:spcPct val="108000"/>
              </a:lnSpc>
              <a:spcBef>
                <a:spcPts val="0"/>
              </a:spcBef>
              <a:spcAft>
                <a:spcPts val="200"/>
              </a:spcAft>
              <a:defRPr lang="en-US" sz="1100" b="1">
                <a:solidFill>
                  <a:srgbClr val="607487"/>
                </a:solidFill>
                <a:latin typeface="Segoe UI"/>
              </a:defRPr>
            </a:pPr>
            <a:r>
              <a:t>REPORTED PURCHASE</a:t>
            </a:r>
          </a:p>
        </p:txBody>
      </p:sp>
      <p:sp>
        <p:nvSpPr>
          <p:cNvPr id="23" name="TextBox 22"/>
          <p:cNvSpPr txBox="1"/>
          <p:nvPr/>
        </p:nvSpPr>
        <p:spPr>
          <a:xfrm>
            <a:off x="8330183" y="2971800"/>
            <a:ext cx="3044952" cy="1069848"/>
          </a:xfrm>
          <a:prstGeom prst="rect">
            <a:avLst/>
          </a:prstGeom>
          <a:noFill/>
        </p:spPr>
        <p:txBody>
          <a:bodyPr wrap="square" lIns="0" rIns="0" tIns="0" bIns="0" anchor="t">
            <a:spAutoFit/>
          </a:bodyPr>
          <a:lstStyle/>
          <a:p>
            <a:pPr algn="l">
              <a:lnSpc>
                <a:spcPct val="108000"/>
              </a:lnSpc>
              <a:spcBef>
                <a:spcPts val="0"/>
              </a:spcBef>
              <a:spcAft>
                <a:spcPts val="400"/>
              </a:spcAft>
              <a:defRPr lang="en-US" sz="2600" b="1">
                <a:solidFill>
                  <a:srgbClr val="122337"/>
                </a:solidFill>
                <a:latin typeface="Segoe UI"/>
              </a:defRPr>
            </a:pPr>
            <a:r>
              <a:t>I bought</a:t>
            </a:r>
          </a:p>
          <a:p>
            <a:pPr algn="l">
              <a:lnSpc>
                <a:spcPct val="108000"/>
              </a:lnSpc>
              <a:spcBef>
                <a:spcPts val="0"/>
              </a:spcBef>
              <a:spcAft>
                <a:spcPts val="400"/>
              </a:spcAft>
              <a:defRPr lang="en-US" sz="2600" b="1">
                <a:solidFill>
                  <a:srgbClr val="122337"/>
                </a:solidFill>
                <a:latin typeface="Segoe UI"/>
              </a:defRPr>
            </a:pPr>
            <a:r>
              <a:t>a book.</a:t>
            </a:r>
          </a:p>
        </p:txBody>
      </p:sp>
      <p:sp>
        <p:nvSpPr>
          <p:cNvPr id="24" name="TextBox 23"/>
          <p:cNvSpPr txBox="1"/>
          <p:nvPr/>
        </p:nvSpPr>
        <p:spPr>
          <a:xfrm>
            <a:off x="8330183" y="4343400"/>
            <a:ext cx="3017520" cy="731520"/>
          </a:xfrm>
          <a:prstGeom prst="rect">
            <a:avLst/>
          </a:prstGeom>
          <a:noFill/>
        </p:spPr>
        <p:txBody>
          <a:bodyPr wrap="square" lIns="0" rIns="0" tIns="0" bIns="0" anchor="t">
            <a:spAutoFit/>
          </a:bodyPr>
          <a:lstStyle/>
          <a:p>
            <a:pPr algn="l">
              <a:lnSpc>
                <a:spcPct val="108000"/>
              </a:lnSpc>
              <a:spcBef>
                <a:spcPts val="0"/>
              </a:spcBef>
              <a:spcAft>
                <a:spcPts val="200"/>
              </a:spcAft>
              <a:defRPr lang="en-US" sz="1650" b="0">
                <a:solidFill>
                  <a:srgbClr val="607487"/>
                </a:solidFill>
                <a:latin typeface="Segoe UI"/>
              </a:defRPr>
            </a:pPr>
            <a:r>
              <a:t>The user explicitly</a:t>
            </a:r>
          </a:p>
          <a:p>
            <a:pPr algn="l">
              <a:lnSpc>
                <a:spcPct val="108000"/>
              </a:lnSpc>
              <a:spcBef>
                <a:spcPts val="0"/>
              </a:spcBef>
              <a:spcAft>
                <a:spcPts val="200"/>
              </a:spcAft>
              <a:defRPr lang="en-US" sz="1650" b="0">
                <a:solidFill>
                  <a:srgbClr val="607487"/>
                </a:solidFill>
                <a:latin typeface="Segoe UI"/>
              </a:defRPr>
            </a:pPr>
            <a:r>
              <a:t>reports the purchase.</a:t>
            </a:r>
          </a:p>
        </p:txBody>
      </p:sp>
      <p:sp>
        <p:nvSpPr>
          <p:cNvPr id="25" name="Rounded Rectangle 24"/>
          <p:cNvSpPr/>
          <p:nvPr/>
        </p:nvSpPr>
        <p:spPr>
          <a:xfrm>
            <a:off x="8330183" y="5157216"/>
            <a:ext cx="1307592" cy="310896"/>
          </a:xfrm>
          <a:prstGeom prst="roundRect">
            <a:avLst>
              <a:gd name="adj" fmla="val 12000"/>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03336" y="5198364"/>
            <a:ext cx="1161288" cy="210312"/>
          </a:xfrm>
          <a:prstGeom prst="rect">
            <a:avLst/>
          </a:prstGeom>
          <a:noFill/>
        </p:spPr>
        <p:txBody>
          <a:bodyPr wrap="square" lIns="0" rIns="0" tIns="0" bIns="0" anchor="t">
            <a:spAutoFit/>
          </a:bodyPr>
          <a:lstStyle/>
          <a:p>
            <a:pPr algn="ctr">
              <a:lnSpc>
                <a:spcPct val="108000"/>
              </a:lnSpc>
              <a:spcBef>
                <a:spcPts val="0"/>
              </a:spcBef>
              <a:spcAft>
                <a:spcPts val="200"/>
              </a:spcAft>
              <a:defRPr lang="en-US" sz="1050" b="1">
                <a:solidFill>
                  <a:srgbClr val="122337"/>
                </a:solidFill>
                <a:latin typeface="Segoe UI"/>
              </a:defRPr>
            </a:pPr>
            <a:r>
              <a:t>YES</a:t>
            </a:r>
          </a:p>
        </p:txBody>
      </p:sp>
      <p:sp>
        <p:nvSpPr>
          <p:cNvPr id="27" name="TextBox 26"/>
          <p:cNvSpPr txBox="1"/>
          <p:nvPr/>
        </p:nvSpPr>
        <p:spPr>
          <a:xfrm>
            <a:off x="621792" y="5971032"/>
            <a:ext cx="10954512" cy="292608"/>
          </a:xfrm>
          <a:prstGeom prst="rect">
            <a:avLst/>
          </a:prstGeom>
          <a:noFill/>
        </p:spPr>
        <p:txBody>
          <a:bodyPr wrap="square" lIns="0" rIns="0" tIns="0" bIns="0" anchor="t">
            <a:spAutoFit/>
          </a:bodyPr>
          <a:lstStyle/>
          <a:p>
            <a:pPr algn="l">
              <a:lnSpc>
                <a:spcPct val="108000"/>
              </a:lnSpc>
              <a:spcBef>
                <a:spcPts val="0"/>
              </a:spcBef>
              <a:spcAft>
                <a:spcPts val="200"/>
              </a:spcAft>
              <a:defRPr lang="en-US" sz="1600" b="0">
                <a:solidFill>
                  <a:srgbClr val="1F344B"/>
                </a:solidFill>
                <a:latin typeface="Segoe UI"/>
              </a:defRPr>
            </a:pPr>
            <a:r>
              <a:t>Contrastive examples distinguish meanings even when the words are almost identical.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02 / THE PIPELINE</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State first. Then dialogue and answers.</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The simulator produces a scenario, memory updates and the reference answer together.</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2200046"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03 / 15</a:t>
            </a:r>
          </a:p>
        </p:txBody>
      </p:sp>
      <p:sp>
        <p:nvSpPr>
          <p:cNvPr id="9" name="Rounded Rectangle 8"/>
          <p:cNvSpPr/>
          <p:nvPr/>
        </p:nvSpPr>
        <p:spPr>
          <a:xfrm>
            <a:off x="594360" y="2395728"/>
            <a:ext cx="2039112" cy="2514600"/>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95528" y="2624328"/>
            <a:ext cx="438912" cy="438912"/>
          </a:xfrm>
          <a:prstGeom prst="ellipse">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697480"/>
            <a:ext cx="438912" cy="365759"/>
          </a:xfrm>
          <a:prstGeom prst="rect">
            <a:avLst/>
          </a:prstGeom>
          <a:noFill/>
        </p:spPr>
        <p:txBody>
          <a:bodyPr wrap="square" lIns="0" rIns="0" tIns="0" bIns="0" anchor="t">
            <a:spAutoFit/>
          </a:bodyPr>
          <a:lstStyle/>
          <a:p>
            <a:pPr algn="ctr">
              <a:lnSpc>
                <a:spcPct val="108000"/>
              </a:lnSpc>
              <a:spcBef>
                <a:spcPts val="0"/>
              </a:spcBef>
              <a:spcAft>
                <a:spcPts val="200"/>
              </a:spcAft>
              <a:defRPr lang="en-US" sz="1500" b="1">
                <a:solidFill>
                  <a:srgbClr val="122337"/>
                </a:solidFill>
                <a:latin typeface="Segoe UI"/>
              </a:defRPr>
            </a:pPr>
            <a:r>
              <a:t>01</a:t>
            </a:r>
          </a:p>
        </p:txBody>
      </p:sp>
      <p:sp>
        <p:nvSpPr>
          <p:cNvPr id="12" name="TextBox 11"/>
          <p:cNvSpPr txBox="1"/>
          <p:nvPr/>
        </p:nvSpPr>
        <p:spPr>
          <a:xfrm>
            <a:off x="795528" y="3246120"/>
            <a:ext cx="1673352" cy="411480"/>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122337"/>
                </a:solidFill>
                <a:latin typeface="Segoe UI"/>
              </a:defRPr>
            </a:pPr>
            <a:r>
              <a:t>Resources</a:t>
            </a:r>
          </a:p>
        </p:txBody>
      </p:sp>
      <p:sp>
        <p:nvSpPr>
          <p:cNvPr id="13" name="TextBox 12"/>
          <p:cNvSpPr txBox="1"/>
          <p:nvPr/>
        </p:nvSpPr>
        <p:spPr>
          <a:xfrm>
            <a:off x="795528" y="3767328"/>
            <a:ext cx="1673352" cy="987552"/>
          </a:xfrm>
          <a:prstGeom prst="rect">
            <a:avLst/>
          </a:prstGeom>
          <a:noFill/>
        </p:spPr>
        <p:txBody>
          <a:bodyPr wrap="square" lIns="0" rIns="0" tIns="0" bIns="0" anchor="t">
            <a:spAutoFit/>
          </a:bodyPr>
          <a:lstStyle/>
          <a:p>
            <a:pPr algn="l">
              <a:lnSpc>
                <a:spcPct val="108000"/>
              </a:lnSpc>
              <a:spcBef>
                <a:spcPts val="0"/>
              </a:spcBef>
              <a:spcAft>
                <a:spcPts val="200"/>
              </a:spcAft>
              <a:defRPr lang="en-US" sz="1680" b="0">
                <a:solidFill>
                  <a:srgbClr val="607487"/>
                </a:solidFill>
                <a:latin typeface="Segoe UI"/>
              </a:defRPr>
            </a:pPr>
            <a:r>
              <a:t>entities</a:t>
            </a:r>
          </a:p>
          <a:p>
            <a:pPr algn="l">
              <a:lnSpc>
                <a:spcPct val="108000"/>
              </a:lnSpc>
              <a:spcBef>
                <a:spcPts val="0"/>
              </a:spcBef>
              <a:spcAft>
                <a:spcPts val="200"/>
              </a:spcAft>
              <a:defRPr lang="en-US" sz="1680" b="0">
                <a:solidFill>
                  <a:srgbClr val="607487"/>
                </a:solidFill>
                <a:latin typeface="Segoe UI"/>
              </a:defRPr>
            </a:pPr>
            <a:r>
              <a:t>frames</a:t>
            </a:r>
          </a:p>
          <a:p>
            <a:pPr algn="l">
              <a:lnSpc>
                <a:spcPct val="108000"/>
              </a:lnSpc>
              <a:spcBef>
                <a:spcPts val="0"/>
              </a:spcBef>
              <a:spcAft>
                <a:spcPts val="200"/>
              </a:spcAft>
              <a:defRPr lang="en-US" sz="1680" b="0">
                <a:solidFill>
                  <a:srgbClr val="607487"/>
                </a:solidFill>
                <a:latin typeface="Segoe UI"/>
              </a:defRPr>
            </a:pPr>
            <a:r>
              <a:t>templates</a:t>
            </a:r>
          </a:p>
        </p:txBody>
      </p:sp>
      <p:sp>
        <p:nvSpPr>
          <p:cNvPr id="14" name="Right Arrow 13"/>
          <p:cNvSpPr/>
          <p:nvPr/>
        </p:nvSpPr>
        <p:spPr>
          <a:xfrm>
            <a:off x="2651760" y="3474720"/>
            <a:ext cx="164592" cy="173736"/>
          </a:xfrm>
          <a:prstGeom prst="rightArrow">
            <a:avLst/>
          </a:prstGeom>
          <a:solidFill>
            <a:srgbClr val="60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25496" y="2395728"/>
            <a:ext cx="2039112" cy="2514600"/>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026664" y="2624328"/>
            <a:ext cx="438912" cy="438912"/>
          </a:xfrm>
          <a:prstGeom prst="ellipse">
            <a:avLst/>
          </a:prstGeom>
          <a:solidFill>
            <a:srgbClr val="97C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26664" y="2697480"/>
            <a:ext cx="438912" cy="365759"/>
          </a:xfrm>
          <a:prstGeom prst="rect">
            <a:avLst/>
          </a:prstGeom>
          <a:noFill/>
        </p:spPr>
        <p:txBody>
          <a:bodyPr wrap="square" lIns="0" rIns="0" tIns="0" bIns="0" anchor="t">
            <a:spAutoFit/>
          </a:bodyPr>
          <a:lstStyle/>
          <a:p>
            <a:pPr algn="ctr">
              <a:lnSpc>
                <a:spcPct val="108000"/>
              </a:lnSpc>
              <a:spcBef>
                <a:spcPts val="0"/>
              </a:spcBef>
              <a:spcAft>
                <a:spcPts val="200"/>
              </a:spcAft>
              <a:defRPr lang="en-US" sz="1500" b="1">
                <a:solidFill>
                  <a:srgbClr val="122337"/>
                </a:solidFill>
                <a:latin typeface="Segoe UI"/>
              </a:defRPr>
            </a:pPr>
            <a:r>
              <a:t>02</a:t>
            </a:r>
          </a:p>
        </p:txBody>
      </p:sp>
      <p:sp>
        <p:nvSpPr>
          <p:cNvPr id="18" name="TextBox 17"/>
          <p:cNvSpPr txBox="1"/>
          <p:nvPr/>
        </p:nvSpPr>
        <p:spPr>
          <a:xfrm>
            <a:off x="3026664" y="3246120"/>
            <a:ext cx="1673352" cy="411480"/>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122337"/>
                </a:solidFill>
                <a:latin typeface="Segoe UI"/>
              </a:defRPr>
            </a:pPr>
            <a:r>
              <a:t>Scenario</a:t>
            </a:r>
          </a:p>
        </p:txBody>
      </p:sp>
      <p:sp>
        <p:nvSpPr>
          <p:cNvPr id="19" name="TextBox 18"/>
          <p:cNvSpPr txBox="1"/>
          <p:nvPr/>
        </p:nvSpPr>
        <p:spPr>
          <a:xfrm>
            <a:off x="3026664" y="3767328"/>
            <a:ext cx="1673352" cy="987552"/>
          </a:xfrm>
          <a:prstGeom prst="rect">
            <a:avLst/>
          </a:prstGeom>
          <a:noFill/>
        </p:spPr>
        <p:txBody>
          <a:bodyPr wrap="square" lIns="0" rIns="0" tIns="0" bIns="0" anchor="t">
            <a:spAutoFit/>
          </a:bodyPr>
          <a:lstStyle/>
          <a:p>
            <a:pPr algn="l">
              <a:lnSpc>
                <a:spcPct val="108000"/>
              </a:lnSpc>
              <a:spcBef>
                <a:spcPts val="0"/>
              </a:spcBef>
              <a:spcAft>
                <a:spcPts val="200"/>
              </a:spcAft>
              <a:defRPr lang="en-US" sz="1680" b="0">
                <a:solidFill>
                  <a:srgbClr val="607487"/>
                </a:solidFill>
                <a:latin typeface="Segoe UI"/>
              </a:defRPr>
            </a:pPr>
            <a:r>
              <a:t>task</a:t>
            </a:r>
          </a:p>
          <a:p>
            <a:pPr algn="l">
              <a:lnSpc>
                <a:spcPct val="108000"/>
              </a:lnSpc>
              <a:spcBef>
                <a:spcPts val="0"/>
              </a:spcBef>
              <a:spcAft>
                <a:spcPts val="200"/>
              </a:spcAft>
              <a:defRPr lang="en-US" sz="1680" b="0">
                <a:solidFill>
                  <a:srgbClr val="607487"/>
                </a:solidFill>
                <a:latin typeface="Segoe UI"/>
              </a:defRPr>
            </a:pPr>
            <a:r>
              <a:t>participants</a:t>
            </a:r>
          </a:p>
          <a:p>
            <a:pPr algn="l">
              <a:lnSpc>
                <a:spcPct val="108000"/>
              </a:lnSpc>
              <a:spcBef>
                <a:spcPts val="0"/>
              </a:spcBef>
              <a:spcAft>
                <a:spcPts val="200"/>
              </a:spcAft>
              <a:defRPr lang="en-US" sz="1680" b="0">
                <a:solidFill>
                  <a:srgbClr val="607487"/>
                </a:solidFill>
                <a:latin typeface="Segoe UI"/>
              </a:defRPr>
            </a:pPr>
            <a:r>
              <a:t>conditions</a:t>
            </a:r>
          </a:p>
        </p:txBody>
      </p:sp>
      <p:sp>
        <p:nvSpPr>
          <p:cNvPr id="20" name="Right Arrow 19"/>
          <p:cNvSpPr/>
          <p:nvPr/>
        </p:nvSpPr>
        <p:spPr>
          <a:xfrm>
            <a:off x="4882896" y="3474720"/>
            <a:ext cx="164592" cy="173736"/>
          </a:xfrm>
          <a:prstGeom prst="rightArrow">
            <a:avLst/>
          </a:prstGeom>
          <a:solidFill>
            <a:srgbClr val="60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56632" y="2395728"/>
            <a:ext cx="2039112" cy="2514600"/>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257800" y="2624328"/>
            <a:ext cx="438912" cy="438912"/>
          </a:xfrm>
          <a:prstGeom prst="ellipse">
            <a:avLst/>
          </a:prstGeom>
          <a:solidFill>
            <a:srgbClr val="B6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2697480"/>
            <a:ext cx="438912" cy="365759"/>
          </a:xfrm>
          <a:prstGeom prst="rect">
            <a:avLst/>
          </a:prstGeom>
          <a:noFill/>
        </p:spPr>
        <p:txBody>
          <a:bodyPr wrap="square" lIns="0" rIns="0" tIns="0" bIns="0" anchor="t">
            <a:spAutoFit/>
          </a:bodyPr>
          <a:lstStyle/>
          <a:p>
            <a:pPr algn="ctr">
              <a:lnSpc>
                <a:spcPct val="108000"/>
              </a:lnSpc>
              <a:spcBef>
                <a:spcPts val="0"/>
              </a:spcBef>
              <a:spcAft>
                <a:spcPts val="200"/>
              </a:spcAft>
              <a:defRPr lang="en-US" sz="1500" b="1">
                <a:solidFill>
                  <a:srgbClr val="122337"/>
                </a:solidFill>
                <a:latin typeface="Segoe UI"/>
              </a:defRPr>
            </a:pPr>
            <a:r>
              <a:t>03</a:t>
            </a:r>
          </a:p>
        </p:txBody>
      </p:sp>
      <p:sp>
        <p:nvSpPr>
          <p:cNvPr id="24" name="TextBox 23"/>
          <p:cNvSpPr txBox="1"/>
          <p:nvPr/>
        </p:nvSpPr>
        <p:spPr>
          <a:xfrm>
            <a:off x="5257800" y="3246120"/>
            <a:ext cx="1673352" cy="411480"/>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122337"/>
                </a:solidFill>
                <a:latin typeface="Segoe UI"/>
              </a:defRPr>
            </a:pPr>
            <a:r>
              <a:t>Memory</a:t>
            </a:r>
          </a:p>
        </p:txBody>
      </p:sp>
      <p:sp>
        <p:nvSpPr>
          <p:cNvPr id="25" name="TextBox 24"/>
          <p:cNvSpPr txBox="1"/>
          <p:nvPr/>
        </p:nvSpPr>
        <p:spPr>
          <a:xfrm>
            <a:off x="5257800" y="3767328"/>
            <a:ext cx="1673352" cy="987552"/>
          </a:xfrm>
          <a:prstGeom prst="rect">
            <a:avLst/>
          </a:prstGeom>
          <a:noFill/>
        </p:spPr>
        <p:txBody>
          <a:bodyPr wrap="square" lIns="0" rIns="0" tIns="0" bIns="0" anchor="t">
            <a:spAutoFit/>
          </a:bodyPr>
          <a:lstStyle/>
          <a:p>
            <a:pPr algn="l">
              <a:lnSpc>
                <a:spcPct val="108000"/>
              </a:lnSpc>
              <a:spcBef>
                <a:spcPts val="0"/>
              </a:spcBef>
              <a:spcAft>
                <a:spcPts val="200"/>
              </a:spcAft>
              <a:defRPr lang="en-US" sz="1680" b="0">
                <a:solidFill>
                  <a:srgbClr val="607487"/>
                </a:solidFill>
                <a:latin typeface="Segoe UI"/>
              </a:defRPr>
            </a:pPr>
            <a:r>
              <a:t>facts</a:t>
            </a:r>
          </a:p>
          <a:p>
            <a:pPr algn="l">
              <a:lnSpc>
                <a:spcPct val="108000"/>
              </a:lnSpc>
              <a:spcBef>
                <a:spcPts val="0"/>
              </a:spcBef>
              <a:spcAft>
                <a:spcPts val="200"/>
              </a:spcAft>
              <a:defRPr lang="en-US" sz="1680" b="0">
                <a:solidFill>
                  <a:srgbClr val="607487"/>
                </a:solidFill>
                <a:latin typeface="Segoe UI"/>
              </a:defRPr>
            </a:pPr>
            <a:r>
              <a:t>events</a:t>
            </a:r>
          </a:p>
          <a:p>
            <a:pPr algn="l">
              <a:lnSpc>
                <a:spcPct val="108000"/>
              </a:lnSpc>
              <a:spcBef>
                <a:spcPts val="0"/>
              </a:spcBef>
              <a:spcAft>
                <a:spcPts val="200"/>
              </a:spcAft>
              <a:defRPr lang="en-US" sz="1680" b="0">
                <a:solidFill>
                  <a:srgbClr val="607487"/>
                </a:solidFill>
                <a:latin typeface="Segoe UI"/>
              </a:defRPr>
            </a:pPr>
            <a:r>
              <a:t>updates</a:t>
            </a:r>
          </a:p>
        </p:txBody>
      </p:sp>
      <p:sp>
        <p:nvSpPr>
          <p:cNvPr id="26" name="Right Arrow 25"/>
          <p:cNvSpPr/>
          <p:nvPr/>
        </p:nvSpPr>
        <p:spPr>
          <a:xfrm>
            <a:off x="7114032" y="3474720"/>
            <a:ext cx="164592" cy="173736"/>
          </a:xfrm>
          <a:prstGeom prst="rightArrow">
            <a:avLst/>
          </a:prstGeom>
          <a:solidFill>
            <a:srgbClr val="60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287768" y="2395728"/>
            <a:ext cx="2039112" cy="2514600"/>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88936" y="2624328"/>
            <a:ext cx="438912" cy="438912"/>
          </a:xfrm>
          <a:prstGeom prst="ellipse">
            <a:avLst/>
          </a:prstGeom>
          <a:solidFill>
            <a:srgbClr val="FF9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8936" y="2697480"/>
            <a:ext cx="438912" cy="365759"/>
          </a:xfrm>
          <a:prstGeom prst="rect">
            <a:avLst/>
          </a:prstGeom>
          <a:noFill/>
        </p:spPr>
        <p:txBody>
          <a:bodyPr wrap="square" lIns="0" rIns="0" tIns="0" bIns="0" anchor="t">
            <a:spAutoFit/>
          </a:bodyPr>
          <a:lstStyle/>
          <a:p>
            <a:pPr algn="ctr">
              <a:lnSpc>
                <a:spcPct val="108000"/>
              </a:lnSpc>
              <a:spcBef>
                <a:spcPts val="0"/>
              </a:spcBef>
              <a:spcAft>
                <a:spcPts val="200"/>
              </a:spcAft>
              <a:defRPr lang="en-US" sz="1500" b="1">
                <a:solidFill>
                  <a:srgbClr val="122337"/>
                </a:solidFill>
                <a:latin typeface="Segoe UI"/>
              </a:defRPr>
            </a:pPr>
            <a:r>
              <a:t>04</a:t>
            </a:r>
          </a:p>
        </p:txBody>
      </p:sp>
      <p:sp>
        <p:nvSpPr>
          <p:cNvPr id="30" name="TextBox 29"/>
          <p:cNvSpPr txBox="1"/>
          <p:nvPr/>
        </p:nvSpPr>
        <p:spPr>
          <a:xfrm>
            <a:off x="7488936" y="3246120"/>
            <a:ext cx="1673352" cy="411480"/>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122337"/>
                </a:solidFill>
                <a:latin typeface="Segoe UI"/>
              </a:defRPr>
            </a:pPr>
            <a:r>
              <a:t>Dialogue</a:t>
            </a:r>
          </a:p>
        </p:txBody>
      </p:sp>
      <p:sp>
        <p:nvSpPr>
          <p:cNvPr id="31" name="TextBox 30"/>
          <p:cNvSpPr txBox="1"/>
          <p:nvPr/>
        </p:nvSpPr>
        <p:spPr>
          <a:xfrm>
            <a:off x="7488936" y="3767328"/>
            <a:ext cx="1673352" cy="987552"/>
          </a:xfrm>
          <a:prstGeom prst="rect">
            <a:avLst/>
          </a:prstGeom>
          <a:noFill/>
        </p:spPr>
        <p:txBody>
          <a:bodyPr wrap="square" lIns="0" rIns="0" tIns="0" bIns="0" anchor="t">
            <a:spAutoFit/>
          </a:bodyPr>
          <a:lstStyle/>
          <a:p>
            <a:pPr algn="l">
              <a:lnSpc>
                <a:spcPct val="108000"/>
              </a:lnSpc>
              <a:spcBef>
                <a:spcPts val="0"/>
              </a:spcBef>
              <a:spcAft>
                <a:spcPts val="200"/>
              </a:spcAft>
              <a:defRPr lang="en-US" sz="1680" b="0">
                <a:solidFill>
                  <a:srgbClr val="607487"/>
                </a:solidFill>
                <a:latin typeface="Segoe UI"/>
              </a:defRPr>
            </a:pPr>
            <a:r>
              <a:t>utterances</a:t>
            </a:r>
          </a:p>
          <a:p>
            <a:pPr algn="l">
              <a:lnSpc>
                <a:spcPct val="108000"/>
              </a:lnSpc>
              <a:spcBef>
                <a:spcPts val="0"/>
              </a:spcBef>
              <a:spcAft>
                <a:spcPts val="200"/>
              </a:spcAft>
              <a:defRPr lang="en-US" sz="1680" b="0">
                <a:solidFill>
                  <a:srgbClr val="607487"/>
                </a:solidFill>
                <a:latin typeface="Segoe UI"/>
              </a:defRPr>
            </a:pPr>
            <a:r>
              <a:t>question</a:t>
            </a:r>
          </a:p>
          <a:p>
            <a:pPr algn="l">
              <a:lnSpc>
                <a:spcPct val="108000"/>
              </a:lnSpc>
              <a:spcBef>
                <a:spcPts val="0"/>
              </a:spcBef>
              <a:spcAft>
                <a:spcPts val="200"/>
              </a:spcAft>
              <a:defRPr lang="en-US" sz="1680" b="0">
                <a:solidFill>
                  <a:srgbClr val="607487"/>
                </a:solidFill>
                <a:latin typeface="Segoe UI"/>
              </a:defRPr>
            </a:pPr>
            <a:r>
              <a:t>answer</a:t>
            </a:r>
          </a:p>
        </p:txBody>
      </p:sp>
      <p:sp>
        <p:nvSpPr>
          <p:cNvPr id="32" name="Right Arrow 31"/>
          <p:cNvSpPr/>
          <p:nvPr/>
        </p:nvSpPr>
        <p:spPr>
          <a:xfrm>
            <a:off x="9345168" y="3474720"/>
            <a:ext cx="164592" cy="173736"/>
          </a:xfrm>
          <a:prstGeom prst="rightArrow">
            <a:avLst/>
          </a:prstGeom>
          <a:solidFill>
            <a:srgbClr val="60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518904" y="2395728"/>
            <a:ext cx="2039112" cy="2514600"/>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720072" y="2624328"/>
            <a:ext cx="438912" cy="438912"/>
          </a:xfrm>
          <a:prstGeom prst="ellipse">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20072" y="2697480"/>
            <a:ext cx="438912" cy="365759"/>
          </a:xfrm>
          <a:prstGeom prst="rect">
            <a:avLst/>
          </a:prstGeom>
          <a:noFill/>
        </p:spPr>
        <p:txBody>
          <a:bodyPr wrap="square" lIns="0" rIns="0" tIns="0" bIns="0" anchor="t">
            <a:spAutoFit/>
          </a:bodyPr>
          <a:lstStyle/>
          <a:p>
            <a:pPr algn="ctr">
              <a:lnSpc>
                <a:spcPct val="108000"/>
              </a:lnSpc>
              <a:spcBef>
                <a:spcPts val="0"/>
              </a:spcBef>
              <a:spcAft>
                <a:spcPts val="200"/>
              </a:spcAft>
              <a:defRPr lang="en-US" sz="1500" b="1">
                <a:solidFill>
                  <a:srgbClr val="122337"/>
                </a:solidFill>
                <a:latin typeface="Segoe UI"/>
              </a:defRPr>
            </a:pPr>
            <a:r>
              <a:t>05</a:t>
            </a:r>
          </a:p>
        </p:txBody>
      </p:sp>
      <p:sp>
        <p:nvSpPr>
          <p:cNvPr id="36" name="TextBox 35"/>
          <p:cNvSpPr txBox="1"/>
          <p:nvPr/>
        </p:nvSpPr>
        <p:spPr>
          <a:xfrm>
            <a:off x="9720072" y="3246120"/>
            <a:ext cx="1673352" cy="411480"/>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122337"/>
                </a:solidFill>
                <a:latin typeface="Segoe UI"/>
              </a:defRPr>
            </a:pPr>
            <a:r>
              <a:t>Datasets</a:t>
            </a:r>
          </a:p>
        </p:txBody>
      </p:sp>
      <p:sp>
        <p:nvSpPr>
          <p:cNvPr id="37" name="TextBox 36"/>
          <p:cNvSpPr txBox="1"/>
          <p:nvPr/>
        </p:nvSpPr>
        <p:spPr>
          <a:xfrm>
            <a:off x="9720072" y="3767328"/>
            <a:ext cx="1673352" cy="987552"/>
          </a:xfrm>
          <a:prstGeom prst="rect">
            <a:avLst/>
          </a:prstGeom>
          <a:noFill/>
        </p:spPr>
        <p:txBody>
          <a:bodyPr wrap="square" lIns="0" rIns="0" tIns="0" bIns="0" anchor="t">
            <a:spAutoFit/>
          </a:bodyPr>
          <a:lstStyle/>
          <a:p>
            <a:pPr algn="l">
              <a:lnSpc>
                <a:spcPct val="108000"/>
              </a:lnSpc>
              <a:spcBef>
                <a:spcPts val="0"/>
              </a:spcBef>
              <a:spcAft>
                <a:spcPts val="200"/>
              </a:spcAft>
              <a:defRPr lang="en-US" sz="1680" b="0">
                <a:solidFill>
                  <a:srgbClr val="607487"/>
                </a:solidFill>
                <a:latin typeface="Segoe UI"/>
              </a:defRPr>
            </a:pPr>
            <a:r>
              <a:t>Memory</a:t>
            </a:r>
          </a:p>
          <a:p>
            <a:pPr algn="l">
              <a:lnSpc>
                <a:spcPct val="108000"/>
              </a:lnSpc>
              <a:spcBef>
                <a:spcPts val="0"/>
              </a:spcBef>
              <a:spcAft>
                <a:spcPts val="200"/>
              </a:spcAft>
              <a:defRPr lang="en-US" sz="1680" b="0">
                <a:solidFill>
                  <a:srgbClr val="607487"/>
                </a:solidFill>
                <a:latin typeface="Segoe UI"/>
              </a:defRPr>
            </a:pPr>
            <a:r>
              <a:t>History</a:t>
            </a:r>
          </a:p>
          <a:p>
            <a:pPr algn="l">
              <a:lnSpc>
                <a:spcPct val="108000"/>
              </a:lnSpc>
              <a:spcBef>
                <a:spcPts val="0"/>
              </a:spcBef>
              <a:spcAft>
                <a:spcPts val="200"/>
              </a:spcAft>
              <a:defRPr lang="en-US" sz="1680" b="0">
                <a:solidFill>
                  <a:srgbClr val="607487"/>
                </a:solidFill>
                <a:latin typeface="Segoe UI"/>
              </a:defRPr>
            </a:pPr>
            <a:r>
              <a:t>Extraction</a:t>
            </a:r>
          </a:p>
        </p:txBody>
      </p:sp>
      <p:sp>
        <p:nvSpPr>
          <p:cNvPr id="38" name="Rounded Rectangle 37"/>
          <p:cNvSpPr/>
          <p:nvPr/>
        </p:nvSpPr>
        <p:spPr>
          <a:xfrm>
            <a:off x="594360" y="5266944"/>
            <a:ext cx="11000232" cy="822960"/>
          </a:xfrm>
          <a:prstGeom prst="roundRect">
            <a:avLst>
              <a:gd name="adj" fmla="val 12000"/>
            </a:avLst>
          </a:prstGeom>
          <a:solidFill>
            <a:srgbClr val="12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5522976"/>
            <a:ext cx="10451592" cy="338328"/>
          </a:xfrm>
          <a:prstGeom prst="rect">
            <a:avLst/>
          </a:prstGeom>
          <a:noFill/>
        </p:spPr>
        <p:txBody>
          <a:bodyPr wrap="square" lIns="0" rIns="0" tIns="0" bIns="0" anchor="t">
            <a:spAutoFit/>
          </a:bodyPr>
          <a:lstStyle/>
          <a:p>
            <a:pPr algn="l">
              <a:lnSpc>
                <a:spcPct val="108000"/>
              </a:lnSpc>
              <a:spcBef>
                <a:spcPts val="0"/>
              </a:spcBef>
              <a:spcAft>
                <a:spcPts val="400"/>
              </a:spcAft>
              <a:defRPr lang="en-US" sz="1800" b="1">
                <a:solidFill>
                  <a:srgbClr val="FFFFFF"/>
                </a:solidFill>
                <a:latin typeface="Segoe UI"/>
              </a:defRPr>
            </a:pPr>
            <a:r>
              <a:t>Validate the full transition:  memory before → utterance → update → memory after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03 / RESOURCES</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One Built-in pool brings resources together.</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Handwritten rules provide control; mining expands vocabulary and construction variety.</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2933395"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04 / 15</a:t>
            </a:r>
          </a:p>
        </p:txBody>
      </p:sp>
      <p:sp>
        <p:nvSpPr>
          <p:cNvPr id="9" name="Rounded Rectangle 8"/>
          <p:cNvSpPr/>
          <p:nvPr/>
        </p:nvSpPr>
        <p:spPr>
          <a:xfrm>
            <a:off x="594360" y="2176272"/>
            <a:ext cx="3474720" cy="2798064"/>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359152"/>
            <a:ext cx="41148" cy="493776"/>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395728"/>
            <a:ext cx="3072384"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HANDWRITTEN RESOURCES</a:t>
            </a:r>
          </a:p>
        </p:txBody>
      </p:sp>
      <p:sp>
        <p:nvSpPr>
          <p:cNvPr id="12" name="TextBox 11"/>
          <p:cNvSpPr txBox="1"/>
          <p:nvPr/>
        </p:nvSpPr>
        <p:spPr>
          <a:xfrm>
            <a:off x="795528" y="2852928"/>
            <a:ext cx="3072384" cy="841248"/>
          </a:xfrm>
          <a:prstGeom prst="rect">
            <a:avLst/>
          </a:prstGeom>
          <a:noFill/>
        </p:spPr>
        <p:txBody>
          <a:bodyPr wrap="square" lIns="0" rIns="0" tIns="0" bIns="0" anchor="t">
            <a:spAutoFit/>
          </a:bodyPr>
          <a:lstStyle/>
          <a:p>
            <a:pPr algn="l">
              <a:lnSpc>
                <a:spcPct val="108000"/>
              </a:lnSpc>
              <a:spcBef>
                <a:spcPts val="0"/>
              </a:spcBef>
              <a:spcAft>
                <a:spcPts val="400"/>
              </a:spcAft>
              <a:defRPr lang="en-US" sz="2300" b="1">
                <a:solidFill>
                  <a:srgbClr val="122337"/>
                </a:solidFill>
                <a:latin typeface="Segoe UI"/>
              </a:defRPr>
            </a:pPr>
            <a:r>
              <a:t>Frames + entities</a:t>
            </a:r>
          </a:p>
        </p:txBody>
      </p:sp>
      <p:sp>
        <p:nvSpPr>
          <p:cNvPr id="13" name="TextBox 12"/>
          <p:cNvSpPr txBox="1"/>
          <p:nvPr/>
        </p:nvSpPr>
        <p:spPr>
          <a:xfrm>
            <a:off x="795528" y="3822191"/>
            <a:ext cx="3072384" cy="1014984"/>
          </a:xfrm>
          <a:prstGeom prst="rect">
            <a:avLst/>
          </a:prstGeom>
          <a:noFill/>
        </p:spPr>
        <p:txBody>
          <a:bodyPr wrap="square" lIns="0" rIns="0" tIns="0" bIns="0" anchor="t">
            <a:spAutoFit/>
          </a:bodyPr>
          <a:lstStyle/>
          <a:p>
            <a:pPr algn="l">
              <a:lnSpc>
                <a:spcPct val="108000"/>
              </a:lnSpc>
              <a:spcBef>
                <a:spcPts val="0"/>
              </a:spcBef>
              <a:spcAft>
                <a:spcPts val="200"/>
              </a:spcAft>
              <a:defRPr lang="en-US" sz="1610" b="0">
                <a:solidFill>
                  <a:srgbClr val="607487"/>
                </a:solidFill>
                <a:latin typeface="Segoe UI"/>
              </a:defRPr>
            </a:pPr>
            <a:r>
              <a:t>Participant types and roles</a:t>
            </a:r>
          </a:p>
          <a:p>
            <a:pPr algn="l">
              <a:lnSpc>
                <a:spcPct val="108000"/>
              </a:lnSpc>
              <a:spcBef>
                <a:spcPts val="0"/>
              </a:spcBef>
              <a:spcAft>
                <a:spcPts val="200"/>
              </a:spcAft>
              <a:defRPr lang="en-US" sz="1610" b="0">
                <a:solidFill>
                  <a:srgbClr val="607487"/>
                </a:solidFill>
                <a:latin typeface="Segoe UI"/>
              </a:defRPr>
            </a:pPr>
            <a:r>
              <a:t>Compatible slot fillers</a:t>
            </a:r>
          </a:p>
          <a:p>
            <a:pPr algn="l">
              <a:lnSpc>
                <a:spcPct val="108000"/>
              </a:lnSpc>
              <a:spcBef>
                <a:spcPts val="0"/>
              </a:spcBef>
              <a:spcAft>
                <a:spcPts val="200"/>
              </a:spcAft>
              <a:defRPr lang="en-US" sz="1610" b="0">
                <a:solidFill>
                  <a:srgbClr val="607487"/>
                </a:solidFill>
                <a:latin typeface="Segoe UI"/>
              </a:defRPr>
            </a:pPr>
            <a:r>
              <a:t>Sentence construction rules</a:t>
            </a:r>
          </a:p>
        </p:txBody>
      </p:sp>
      <p:sp>
        <p:nvSpPr>
          <p:cNvPr id="14" name="Rounded Rectangle 13"/>
          <p:cNvSpPr/>
          <p:nvPr/>
        </p:nvSpPr>
        <p:spPr>
          <a:xfrm>
            <a:off x="4361688" y="2176272"/>
            <a:ext cx="3474720" cy="2798064"/>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2359152"/>
            <a:ext cx="41148" cy="493776"/>
          </a:xfrm>
          <a:prstGeom prst="rect">
            <a:avLst/>
          </a:prstGeom>
          <a:solidFill>
            <a:srgbClr val="B6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5" y="2395728"/>
            <a:ext cx="3072384"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MINED RESOURCES</a:t>
            </a:r>
          </a:p>
        </p:txBody>
      </p:sp>
      <p:sp>
        <p:nvSpPr>
          <p:cNvPr id="17" name="TextBox 16"/>
          <p:cNvSpPr txBox="1"/>
          <p:nvPr/>
        </p:nvSpPr>
        <p:spPr>
          <a:xfrm>
            <a:off x="4562855" y="2852928"/>
            <a:ext cx="3072384" cy="841248"/>
          </a:xfrm>
          <a:prstGeom prst="rect">
            <a:avLst/>
          </a:prstGeom>
          <a:noFill/>
        </p:spPr>
        <p:txBody>
          <a:bodyPr wrap="square" lIns="0" rIns="0" tIns="0" bIns="0" anchor="t">
            <a:spAutoFit/>
          </a:bodyPr>
          <a:lstStyle/>
          <a:p>
            <a:pPr algn="l">
              <a:lnSpc>
                <a:spcPct val="108000"/>
              </a:lnSpc>
              <a:spcBef>
                <a:spcPts val="0"/>
              </a:spcBef>
              <a:spcAft>
                <a:spcPts val="400"/>
              </a:spcAft>
              <a:defRPr lang="en-US" sz="2300" b="1">
                <a:solidFill>
                  <a:srgbClr val="122337"/>
                </a:solidFill>
                <a:latin typeface="Segoe UI"/>
              </a:defRPr>
            </a:pPr>
            <a:r>
              <a:t>4,031 entries</a:t>
            </a:r>
          </a:p>
        </p:txBody>
      </p:sp>
      <p:sp>
        <p:nvSpPr>
          <p:cNvPr id="18" name="TextBox 17"/>
          <p:cNvSpPr txBox="1"/>
          <p:nvPr/>
        </p:nvSpPr>
        <p:spPr>
          <a:xfrm>
            <a:off x="4562855" y="3822191"/>
            <a:ext cx="3072384" cy="1014984"/>
          </a:xfrm>
          <a:prstGeom prst="rect">
            <a:avLst/>
          </a:prstGeom>
          <a:noFill/>
        </p:spPr>
        <p:txBody>
          <a:bodyPr wrap="square" lIns="0" rIns="0" tIns="0" bIns="0" anchor="t">
            <a:spAutoFit/>
          </a:bodyPr>
          <a:lstStyle/>
          <a:p>
            <a:pPr algn="l">
              <a:lnSpc>
                <a:spcPct val="108000"/>
              </a:lnSpc>
              <a:spcBef>
                <a:spcPts val="0"/>
              </a:spcBef>
              <a:spcAft>
                <a:spcPts val="200"/>
              </a:spcAft>
              <a:defRPr lang="en-US" sz="1610" b="0">
                <a:solidFill>
                  <a:srgbClr val="607487"/>
                </a:solidFill>
                <a:latin typeface="Segoe UI"/>
              </a:defRPr>
            </a:pPr>
            <a:r>
              <a:t>Verbs and constructions</a:t>
            </a:r>
          </a:p>
          <a:p>
            <a:pPr algn="l">
              <a:lnSpc>
                <a:spcPct val="108000"/>
              </a:lnSpc>
              <a:spcBef>
                <a:spcPts val="0"/>
              </a:spcBef>
              <a:spcAft>
                <a:spcPts val="200"/>
              </a:spcAft>
              <a:defRPr lang="en-US" sz="1610" b="0">
                <a:solidFill>
                  <a:srgbClr val="607487"/>
                </a:solidFill>
                <a:latin typeface="Segoe UI"/>
              </a:defRPr>
            </a:pPr>
            <a:r>
              <a:t>Attested combinations</a:t>
            </a:r>
          </a:p>
          <a:p>
            <a:pPr algn="l">
              <a:lnSpc>
                <a:spcPct val="108000"/>
              </a:lnSpc>
              <a:spcBef>
                <a:spcPts val="0"/>
              </a:spcBef>
              <a:spcAft>
                <a:spcPts val="200"/>
              </a:spcAft>
              <a:defRPr lang="en-US" sz="1610" b="0">
                <a:solidFill>
                  <a:srgbClr val="607487"/>
                </a:solidFill>
                <a:latin typeface="Segoe UI"/>
              </a:defRPr>
            </a:pPr>
            <a:r>
              <a:t>Syntactic dependencies</a:t>
            </a:r>
          </a:p>
        </p:txBody>
      </p:sp>
      <p:sp>
        <p:nvSpPr>
          <p:cNvPr id="19" name="Rounded Rectangle 18"/>
          <p:cNvSpPr/>
          <p:nvPr/>
        </p:nvSpPr>
        <p:spPr>
          <a:xfrm>
            <a:off x="8119872" y="2176272"/>
            <a:ext cx="3474720" cy="2798064"/>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2" y="2359152"/>
            <a:ext cx="41148" cy="493776"/>
          </a:xfrm>
          <a:prstGeom prst="rect">
            <a:avLst/>
          </a:prstGeom>
          <a:solidFill>
            <a:srgbClr val="97C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2395728"/>
            <a:ext cx="3072384"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MORPHOLOGY</a:t>
            </a:r>
          </a:p>
        </p:txBody>
      </p:sp>
      <p:sp>
        <p:nvSpPr>
          <p:cNvPr id="22" name="TextBox 21"/>
          <p:cNvSpPr txBox="1"/>
          <p:nvPr/>
        </p:nvSpPr>
        <p:spPr>
          <a:xfrm>
            <a:off x="8321040" y="2852928"/>
            <a:ext cx="3072384" cy="841248"/>
          </a:xfrm>
          <a:prstGeom prst="rect">
            <a:avLst/>
          </a:prstGeom>
          <a:noFill/>
        </p:spPr>
        <p:txBody>
          <a:bodyPr wrap="square" lIns="0" rIns="0" tIns="0" bIns="0" anchor="t">
            <a:spAutoFit/>
          </a:bodyPr>
          <a:lstStyle/>
          <a:p>
            <a:pPr algn="l">
              <a:lnSpc>
                <a:spcPct val="108000"/>
              </a:lnSpc>
              <a:spcBef>
                <a:spcPts val="0"/>
              </a:spcBef>
              <a:spcAft>
                <a:spcPts val="400"/>
              </a:spcAft>
              <a:defRPr lang="en-US" sz="2300" b="1">
                <a:solidFill>
                  <a:srgbClr val="122337"/>
                </a:solidFill>
                <a:latin typeface="Segoe UI"/>
              </a:defRPr>
            </a:pPr>
            <a:r>
              <a:t>Verb forms</a:t>
            </a:r>
          </a:p>
        </p:txBody>
      </p:sp>
      <p:sp>
        <p:nvSpPr>
          <p:cNvPr id="23" name="TextBox 22"/>
          <p:cNvSpPr txBox="1"/>
          <p:nvPr/>
        </p:nvSpPr>
        <p:spPr>
          <a:xfrm>
            <a:off x="8321040" y="3822191"/>
            <a:ext cx="3072384" cy="1014984"/>
          </a:xfrm>
          <a:prstGeom prst="rect">
            <a:avLst/>
          </a:prstGeom>
          <a:noFill/>
        </p:spPr>
        <p:txBody>
          <a:bodyPr wrap="square" lIns="0" rIns="0" tIns="0" bIns="0" anchor="t">
            <a:spAutoFit/>
          </a:bodyPr>
          <a:lstStyle/>
          <a:p>
            <a:pPr algn="l">
              <a:lnSpc>
                <a:spcPct val="108000"/>
              </a:lnSpc>
              <a:spcBef>
                <a:spcPts val="0"/>
              </a:spcBef>
              <a:spcAft>
                <a:spcPts val="200"/>
              </a:spcAft>
              <a:defRPr lang="en-US" sz="1610" b="0">
                <a:solidFill>
                  <a:srgbClr val="607487"/>
                </a:solidFill>
                <a:latin typeface="Segoe UI"/>
              </a:defRPr>
            </a:pPr>
            <a:r>
              <a:t>Wiktionary + rules</a:t>
            </a:r>
          </a:p>
          <a:p>
            <a:pPr algn="l">
              <a:lnSpc>
                <a:spcPct val="108000"/>
              </a:lnSpc>
              <a:spcBef>
                <a:spcPts val="0"/>
              </a:spcBef>
              <a:spcAft>
                <a:spcPts val="200"/>
              </a:spcAft>
              <a:defRPr lang="en-US" sz="1610" b="0">
                <a:solidFill>
                  <a:srgbClr val="607487"/>
                </a:solidFill>
                <a:latin typeface="Segoe UI"/>
              </a:defRPr>
            </a:pPr>
            <a:r>
              <a:t>Irregular forms</a:t>
            </a:r>
          </a:p>
          <a:p>
            <a:pPr algn="l">
              <a:lnSpc>
                <a:spcPct val="108000"/>
              </a:lnSpc>
              <a:spcBef>
                <a:spcPts val="0"/>
              </a:spcBef>
              <a:spcAft>
                <a:spcPts val="200"/>
              </a:spcAft>
              <a:defRPr lang="en-US" sz="1610" b="0">
                <a:solidFill>
                  <a:srgbClr val="607487"/>
                </a:solidFill>
                <a:latin typeface="Segoe UI"/>
              </a:defRPr>
            </a:pPr>
            <a:r>
              <a:t>Particles and prepositions</a:t>
            </a:r>
          </a:p>
        </p:txBody>
      </p:sp>
      <p:sp>
        <p:nvSpPr>
          <p:cNvPr id="24" name="Rounded Rectangle 23"/>
          <p:cNvSpPr/>
          <p:nvPr/>
        </p:nvSpPr>
        <p:spPr>
          <a:xfrm>
            <a:off x="594360" y="5257800"/>
            <a:ext cx="11000232" cy="850392"/>
          </a:xfrm>
          <a:prstGeom prst="roundRect">
            <a:avLst>
              <a:gd name="adj" fmla="val 12000"/>
            </a:avLst>
          </a:prstGeom>
          <a:solidFill>
            <a:srgbClr val="12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5477256"/>
            <a:ext cx="10515600" cy="320040"/>
          </a:xfrm>
          <a:prstGeom prst="rect">
            <a:avLst/>
          </a:prstGeom>
          <a:noFill/>
        </p:spPr>
        <p:txBody>
          <a:bodyPr wrap="square" lIns="0" rIns="0" tIns="0" bIns="0" anchor="t">
            <a:spAutoFit/>
          </a:bodyPr>
          <a:lstStyle/>
          <a:p>
            <a:pPr algn="l">
              <a:lnSpc>
                <a:spcPct val="108000"/>
              </a:lnSpc>
              <a:spcBef>
                <a:spcPts val="0"/>
              </a:spcBef>
              <a:spcAft>
                <a:spcPts val="400"/>
              </a:spcAft>
              <a:defRPr lang="en-US" sz="1739" b="1">
                <a:solidFill>
                  <a:srgbClr val="FFFFFF"/>
                </a:solidFill>
                <a:latin typeface="Segoe UI"/>
              </a:defRPr>
            </a:pPr>
            <a:r>
              <a:t>Supported analysis → event. Ambiguous analysis → source quotation.</a:t>
            </a:r>
          </a:p>
        </p:txBody>
      </p:sp>
      <p:sp>
        <p:nvSpPr>
          <p:cNvPr id="26" name="TextBox 25"/>
          <p:cNvSpPr txBox="1"/>
          <p:nvPr/>
        </p:nvSpPr>
        <p:spPr>
          <a:xfrm>
            <a:off x="841248" y="5833872"/>
            <a:ext cx="1051560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200" b="0">
                <a:solidFill>
                  <a:srgbClr val="D3DFEA"/>
                </a:solidFill>
                <a:latin typeface="Segoe UI"/>
              </a:defRPr>
            </a:pPr>
            <a:r>
              <a:t>Automatically derived semantic candidates retain UNREVIEWED status.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04 / LEARNING TASKS</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17 tasks cover memory, context and events.</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The User and assistant only profile has 16 tasks: different_people is excluded.</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3666744"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05 / 15</a:t>
            </a:r>
          </a:p>
        </p:txBody>
      </p:sp>
      <p:sp>
        <p:nvSpPr>
          <p:cNvPr id="9" name="Rounded Rectangle 8"/>
          <p:cNvSpPr/>
          <p:nvPr/>
        </p:nvSpPr>
        <p:spPr>
          <a:xfrm>
            <a:off x="594360" y="2176272"/>
            <a:ext cx="3474720" cy="3648456"/>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359152"/>
            <a:ext cx="41148" cy="493776"/>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395728"/>
            <a:ext cx="3072384"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07 TASKS</a:t>
            </a:r>
          </a:p>
        </p:txBody>
      </p:sp>
      <p:sp>
        <p:nvSpPr>
          <p:cNvPr id="12" name="TextBox 11"/>
          <p:cNvSpPr txBox="1"/>
          <p:nvPr/>
        </p:nvSpPr>
        <p:spPr>
          <a:xfrm>
            <a:off x="795528" y="2852928"/>
            <a:ext cx="3072384" cy="841248"/>
          </a:xfrm>
          <a:prstGeom prst="rect">
            <a:avLst/>
          </a:prstGeom>
          <a:noFill/>
        </p:spPr>
        <p:txBody>
          <a:bodyPr wrap="square" lIns="0" rIns="0" tIns="0" bIns="0" anchor="t">
            <a:spAutoFit/>
          </a:bodyPr>
          <a:lstStyle/>
          <a:p>
            <a:pPr algn="l">
              <a:lnSpc>
                <a:spcPct val="108000"/>
              </a:lnSpc>
              <a:spcBef>
                <a:spcPts val="0"/>
              </a:spcBef>
              <a:spcAft>
                <a:spcPts val="400"/>
              </a:spcAft>
              <a:defRPr lang="en-US" sz="2300" b="1">
                <a:solidFill>
                  <a:srgbClr val="122337"/>
                </a:solidFill>
                <a:latin typeface="Segoe UI"/>
              </a:defRPr>
            </a:pPr>
            <a:r>
              <a:t>Facts and memory</a:t>
            </a:r>
          </a:p>
        </p:txBody>
      </p:sp>
      <p:sp>
        <p:nvSpPr>
          <p:cNvPr id="13" name="TextBox 12"/>
          <p:cNvSpPr txBox="1"/>
          <p:nvPr/>
        </p:nvSpPr>
        <p:spPr>
          <a:xfrm>
            <a:off x="795528" y="3822191"/>
            <a:ext cx="3072384" cy="1865376"/>
          </a:xfrm>
          <a:prstGeom prst="rect">
            <a:avLst/>
          </a:prstGeom>
          <a:noFill/>
        </p:spPr>
        <p:txBody>
          <a:bodyPr wrap="square" lIns="0" rIns="0" tIns="0" bIns="0" anchor="t">
            <a:spAutoFit/>
          </a:bodyPr>
          <a:lstStyle/>
          <a:p>
            <a:pPr algn="l">
              <a:lnSpc>
                <a:spcPct val="108000"/>
              </a:lnSpc>
              <a:spcBef>
                <a:spcPts val="0"/>
              </a:spcBef>
              <a:spcAft>
                <a:spcPts val="200"/>
              </a:spcAft>
              <a:defRPr lang="en-US" sz="1610" b="0">
                <a:solidFill>
                  <a:srgbClr val="607487"/>
                </a:solidFill>
                <a:latin typeface="Segoe UI"/>
              </a:defRPr>
            </a:pPr>
            <a:r>
              <a:t>Recall and correct facts</a:t>
            </a:r>
          </a:p>
          <a:p>
            <a:pPr algn="l">
              <a:lnSpc>
                <a:spcPct val="108000"/>
              </a:lnSpc>
              <a:spcBef>
                <a:spcPts val="0"/>
              </a:spcBef>
              <a:spcAft>
                <a:spcPts val="200"/>
              </a:spcAft>
              <a:defRPr lang="en-US" sz="1610" b="0">
                <a:solidFill>
                  <a:srgbClr val="607487"/>
                </a:solidFill>
                <a:latin typeface="Segoe UI"/>
              </a:defRPr>
            </a:pPr>
            <a:r>
              <a:t>Handle negation</a:t>
            </a:r>
          </a:p>
          <a:p>
            <a:pPr algn="l">
              <a:lnSpc>
                <a:spcPct val="108000"/>
              </a:lnSpc>
              <a:spcBef>
                <a:spcPts val="0"/>
              </a:spcBef>
              <a:spcAft>
                <a:spcPts val="200"/>
              </a:spcAft>
              <a:defRPr lang="en-US" sz="1610" b="0">
                <a:solidFill>
                  <a:srgbClr val="607487"/>
                </a:solidFill>
                <a:latin typeface="Segoe UI"/>
              </a:defRPr>
            </a:pPr>
            <a:r>
              <a:t>Distinguish people</a:t>
            </a:r>
          </a:p>
          <a:p>
            <a:pPr algn="l">
              <a:lnSpc>
                <a:spcPct val="108000"/>
              </a:lnSpc>
              <a:spcBef>
                <a:spcPts val="0"/>
              </a:spcBef>
              <a:spcAft>
                <a:spcPts val="200"/>
              </a:spcAft>
              <a:defRPr lang="en-US" sz="1610" b="0">
                <a:solidFill>
                  <a:srgbClr val="607487"/>
                </a:solidFill>
                <a:latin typeface="Segoe UI"/>
              </a:defRPr>
            </a:pPr>
            <a:r>
              <a:t>Return to a topic</a:t>
            </a:r>
          </a:p>
          <a:p>
            <a:pPr algn="l">
              <a:lnSpc>
                <a:spcPct val="108000"/>
              </a:lnSpc>
              <a:spcBef>
                <a:spcPts val="0"/>
              </a:spcBef>
              <a:spcAft>
                <a:spcPts val="200"/>
              </a:spcAft>
              <a:defRPr lang="en-US" sz="1610" b="0">
                <a:solidFill>
                  <a:srgbClr val="607487"/>
                </a:solidFill>
                <a:latin typeface="Segoe UI"/>
              </a:defRPr>
            </a:pPr>
            <a:r>
              <a:t>Retract a fact</a:t>
            </a:r>
          </a:p>
          <a:p>
            <a:pPr algn="l">
              <a:lnSpc>
                <a:spcPct val="108000"/>
              </a:lnSpc>
              <a:spcBef>
                <a:spcPts val="0"/>
              </a:spcBef>
              <a:spcAft>
                <a:spcPts val="200"/>
              </a:spcAft>
              <a:defRPr lang="en-US" sz="1610" b="0">
                <a:solidFill>
                  <a:srgbClr val="607487"/>
                </a:solidFill>
                <a:latin typeface="Segoe UI"/>
              </a:defRPr>
            </a:pPr>
            <a:r>
              <a:t>Recognize unknowns</a:t>
            </a:r>
          </a:p>
        </p:txBody>
      </p:sp>
      <p:sp>
        <p:nvSpPr>
          <p:cNvPr id="14" name="Rounded Rectangle 13"/>
          <p:cNvSpPr/>
          <p:nvPr/>
        </p:nvSpPr>
        <p:spPr>
          <a:xfrm>
            <a:off x="4361688" y="2176272"/>
            <a:ext cx="3474720" cy="3648456"/>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2359152"/>
            <a:ext cx="41148" cy="493776"/>
          </a:xfrm>
          <a:prstGeom prst="rect">
            <a:avLst/>
          </a:prstGeom>
          <a:solidFill>
            <a:srgbClr val="97C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5" y="2395728"/>
            <a:ext cx="3072384"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04 TASKS</a:t>
            </a:r>
          </a:p>
        </p:txBody>
      </p:sp>
      <p:sp>
        <p:nvSpPr>
          <p:cNvPr id="17" name="TextBox 16"/>
          <p:cNvSpPr txBox="1"/>
          <p:nvPr/>
        </p:nvSpPr>
        <p:spPr>
          <a:xfrm>
            <a:off x="4562855" y="2852928"/>
            <a:ext cx="3072384" cy="841248"/>
          </a:xfrm>
          <a:prstGeom prst="rect">
            <a:avLst/>
          </a:prstGeom>
          <a:noFill/>
        </p:spPr>
        <p:txBody>
          <a:bodyPr wrap="square" lIns="0" rIns="0" tIns="0" bIns="0" anchor="t">
            <a:spAutoFit/>
          </a:bodyPr>
          <a:lstStyle/>
          <a:p>
            <a:pPr algn="l">
              <a:lnSpc>
                <a:spcPct val="108000"/>
              </a:lnSpc>
              <a:spcBef>
                <a:spcPts val="0"/>
              </a:spcBef>
              <a:spcAft>
                <a:spcPts val="400"/>
              </a:spcAft>
              <a:defRPr lang="en-US" sz="2300" b="1">
                <a:solidFill>
                  <a:srgbClr val="122337"/>
                </a:solidFill>
                <a:latin typeface="Segoe UI"/>
              </a:defRPr>
            </a:pPr>
            <a:r>
              <a:t>Dialogue context</a:t>
            </a:r>
          </a:p>
        </p:txBody>
      </p:sp>
      <p:sp>
        <p:nvSpPr>
          <p:cNvPr id="18" name="TextBox 17"/>
          <p:cNvSpPr txBox="1"/>
          <p:nvPr/>
        </p:nvSpPr>
        <p:spPr>
          <a:xfrm>
            <a:off x="4562855" y="3822191"/>
            <a:ext cx="3072384" cy="1865376"/>
          </a:xfrm>
          <a:prstGeom prst="rect">
            <a:avLst/>
          </a:prstGeom>
          <a:noFill/>
        </p:spPr>
        <p:txBody>
          <a:bodyPr wrap="square" lIns="0" rIns="0" tIns="0" bIns="0" anchor="t">
            <a:spAutoFit/>
          </a:bodyPr>
          <a:lstStyle/>
          <a:p>
            <a:pPr algn="l">
              <a:lnSpc>
                <a:spcPct val="108000"/>
              </a:lnSpc>
              <a:spcBef>
                <a:spcPts val="0"/>
              </a:spcBef>
              <a:spcAft>
                <a:spcPts val="200"/>
              </a:spcAft>
              <a:defRPr lang="en-US" sz="1610" b="0">
                <a:solidFill>
                  <a:srgbClr val="607487"/>
                </a:solidFill>
                <a:latin typeface="Segoe UI"/>
              </a:defRPr>
            </a:pPr>
            <a:r>
              <a:t>Resolve “the first option”</a:t>
            </a:r>
          </a:p>
          <a:p>
            <a:pPr algn="l">
              <a:lnSpc>
                <a:spcPct val="108000"/>
              </a:lnSpc>
              <a:spcBef>
                <a:spcPts val="0"/>
              </a:spcBef>
              <a:spcAft>
                <a:spcPts val="200"/>
              </a:spcAft>
              <a:defRPr lang="en-US" sz="1610" b="0">
                <a:solidFill>
                  <a:srgbClr val="607487"/>
                </a:solidFill>
                <a:latin typeface="Segoe UI"/>
              </a:defRPr>
            </a:pPr>
            <a:r>
              <a:t>Clarify ambiguity</a:t>
            </a:r>
          </a:p>
          <a:p>
            <a:pPr algn="l">
              <a:lnSpc>
                <a:spcPct val="108000"/>
              </a:lnSpc>
              <a:spcBef>
                <a:spcPts val="0"/>
              </a:spcBef>
              <a:spcAft>
                <a:spcPts val="200"/>
              </a:spcAft>
              <a:defRPr lang="en-US" sz="1610" b="0">
                <a:solidFill>
                  <a:srgbClr val="607487"/>
                </a:solidFill>
                <a:latin typeface="Segoe UI"/>
              </a:defRPr>
            </a:pPr>
            <a:r>
              <a:t>Interpret suggestions</a:t>
            </a:r>
          </a:p>
          <a:p>
            <a:pPr algn="l">
              <a:lnSpc>
                <a:spcPct val="108000"/>
              </a:lnSpc>
              <a:spcBef>
                <a:spcPts val="0"/>
              </a:spcBef>
              <a:spcAft>
                <a:spcPts val="200"/>
              </a:spcAft>
              <a:defRPr lang="en-US" sz="1610" b="0">
                <a:solidFill>
                  <a:srgbClr val="607487"/>
                </a:solidFill>
                <a:latin typeface="Segoe UI"/>
              </a:defRPr>
            </a:pPr>
            <a:r>
              <a:t>Respect the limits</a:t>
            </a:r>
          </a:p>
          <a:p>
            <a:pPr algn="l">
              <a:lnSpc>
                <a:spcPct val="108000"/>
              </a:lnSpc>
              <a:spcBef>
                <a:spcPts val="0"/>
              </a:spcBef>
              <a:spcAft>
                <a:spcPts val="200"/>
              </a:spcAft>
              <a:defRPr lang="en-US" sz="1610" b="0">
                <a:solidFill>
                  <a:srgbClr val="607487"/>
                </a:solidFill>
                <a:latin typeface="Segoe UI"/>
              </a:defRPr>
            </a:pPr>
            <a:r>
              <a:t>of assistant capabilities</a:t>
            </a:r>
          </a:p>
        </p:txBody>
      </p:sp>
      <p:sp>
        <p:nvSpPr>
          <p:cNvPr id="19" name="Rounded Rectangle 18"/>
          <p:cNvSpPr/>
          <p:nvPr/>
        </p:nvSpPr>
        <p:spPr>
          <a:xfrm>
            <a:off x="8119872" y="2176272"/>
            <a:ext cx="3474720" cy="3648456"/>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2" y="2359152"/>
            <a:ext cx="41148" cy="493776"/>
          </a:xfrm>
          <a:prstGeom prst="rect">
            <a:avLst/>
          </a:prstGeom>
          <a:solidFill>
            <a:srgbClr val="FF9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2395728"/>
            <a:ext cx="3072384"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06 TASKS</a:t>
            </a:r>
          </a:p>
        </p:txBody>
      </p:sp>
      <p:sp>
        <p:nvSpPr>
          <p:cNvPr id="22" name="TextBox 21"/>
          <p:cNvSpPr txBox="1"/>
          <p:nvPr/>
        </p:nvSpPr>
        <p:spPr>
          <a:xfrm>
            <a:off x="8321040" y="2852928"/>
            <a:ext cx="3072384" cy="841248"/>
          </a:xfrm>
          <a:prstGeom prst="rect">
            <a:avLst/>
          </a:prstGeom>
          <a:noFill/>
        </p:spPr>
        <p:txBody>
          <a:bodyPr wrap="square" lIns="0" rIns="0" tIns="0" bIns="0" anchor="t">
            <a:spAutoFit/>
          </a:bodyPr>
          <a:lstStyle/>
          <a:p>
            <a:pPr algn="l">
              <a:lnSpc>
                <a:spcPct val="108000"/>
              </a:lnSpc>
              <a:spcBef>
                <a:spcPts val="0"/>
              </a:spcBef>
              <a:spcAft>
                <a:spcPts val="400"/>
              </a:spcAft>
              <a:defRPr lang="en-US" sz="2300" b="1">
                <a:solidFill>
                  <a:srgbClr val="122337"/>
                </a:solidFill>
                <a:latin typeface="Segoe UI"/>
              </a:defRPr>
            </a:pPr>
            <a:r>
              <a:t>Actions and states</a:t>
            </a:r>
          </a:p>
        </p:txBody>
      </p:sp>
      <p:sp>
        <p:nvSpPr>
          <p:cNvPr id="23" name="TextBox 22"/>
          <p:cNvSpPr txBox="1"/>
          <p:nvPr/>
        </p:nvSpPr>
        <p:spPr>
          <a:xfrm>
            <a:off x="8321040" y="3822191"/>
            <a:ext cx="3072384" cy="1865376"/>
          </a:xfrm>
          <a:prstGeom prst="rect">
            <a:avLst/>
          </a:prstGeom>
          <a:noFill/>
        </p:spPr>
        <p:txBody>
          <a:bodyPr wrap="square" lIns="0" rIns="0" tIns="0" bIns="0" anchor="t">
            <a:spAutoFit/>
          </a:bodyPr>
          <a:lstStyle/>
          <a:p>
            <a:pPr algn="l">
              <a:lnSpc>
                <a:spcPct val="108000"/>
              </a:lnSpc>
              <a:spcBef>
                <a:spcPts val="0"/>
              </a:spcBef>
              <a:spcAft>
                <a:spcPts val="200"/>
              </a:spcAft>
              <a:defRPr lang="en-US" sz="1610" b="0">
                <a:solidFill>
                  <a:srgbClr val="607487"/>
                </a:solidFill>
                <a:latin typeface="Segoe UI"/>
              </a:defRPr>
            </a:pPr>
            <a:r>
              <a:t>Desire vs. completion</a:t>
            </a:r>
          </a:p>
          <a:p>
            <a:pPr algn="l">
              <a:lnSpc>
                <a:spcPct val="108000"/>
              </a:lnSpc>
              <a:spcBef>
                <a:spcPts val="0"/>
              </a:spcBef>
              <a:spcAft>
                <a:spcPts val="200"/>
              </a:spcAft>
              <a:defRPr lang="en-US" sz="1610" b="0">
                <a:solidFill>
                  <a:srgbClr val="607487"/>
                </a:solidFill>
                <a:latin typeface="Segoe UI"/>
              </a:defRPr>
            </a:pPr>
            <a:r>
              <a:t>Operator scope</a:t>
            </a:r>
          </a:p>
          <a:p>
            <a:pPr algn="l">
              <a:lnSpc>
                <a:spcPct val="108000"/>
              </a:lnSpc>
              <a:spcBef>
                <a:spcPts val="0"/>
              </a:spcBef>
              <a:spcAft>
                <a:spcPts val="200"/>
              </a:spcAft>
              <a:defRPr lang="en-US" sz="1610" b="0">
                <a:solidFill>
                  <a:srgbClr val="607487"/>
                </a:solidFill>
                <a:latin typeface="Segoe UI"/>
              </a:defRPr>
            </a:pPr>
            <a:r>
              <a:t>Action progress</a:t>
            </a:r>
          </a:p>
          <a:p>
            <a:pPr algn="l">
              <a:lnSpc>
                <a:spcPct val="108000"/>
              </a:lnSpc>
              <a:spcBef>
                <a:spcPts val="0"/>
              </a:spcBef>
              <a:spcAft>
                <a:spcPts val="200"/>
              </a:spcAft>
              <a:defRPr lang="en-US" sz="1610" b="0">
                <a:solidFill>
                  <a:srgbClr val="607487"/>
                </a:solidFill>
                <a:latin typeface="Segoe UI"/>
              </a:defRPr>
            </a:pPr>
            <a:r>
              <a:t>Event corrections</a:t>
            </a:r>
          </a:p>
          <a:p>
            <a:pPr algn="l">
              <a:lnSpc>
                <a:spcPct val="108000"/>
              </a:lnSpc>
              <a:spcBef>
                <a:spcPts val="0"/>
              </a:spcBef>
              <a:spcAft>
                <a:spcPts val="200"/>
              </a:spcAft>
              <a:defRPr lang="en-US" sz="1610" b="0">
                <a:solidFill>
                  <a:srgbClr val="607487"/>
                </a:solidFill>
                <a:latin typeface="Segoe UI"/>
              </a:defRPr>
            </a:pPr>
            <a:r>
              <a:t>Possession and location</a:t>
            </a:r>
          </a:p>
          <a:p>
            <a:pPr algn="l">
              <a:lnSpc>
                <a:spcPct val="108000"/>
              </a:lnSpc>
              <a:spcBef>
                <a:spcPts val="0"/>
              </a:spcBef>
              <a:spcAft>
                <a:spcPts val="200"/>
              </a:spcAft>
              <a:defRPr lang="en-US" sz="1610" b="0">
                <a:solidFill>
                  <a:srgbClr val="607487"/>
                </a:solidFill>
                <a:latin typeface="Segoe UI"/>
              </a:defRPr>
            </a:pPr>
            <a:r>
              <a:t>Mined predicates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233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05 / EVENT MEANING</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FFFFFF"/>
                </a:solidFill>
                <a:latin typeface="Segoe UI"/>
              </a:defRPr>
            </a:pPr>
            <a:r>
              <a:t>What makes an event?</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D3DFEA"/>
                </a:solidFill>
                <a:latin typeface="Segoe UI"/>
              </a:defRPr>
            </a:pPr>
            <a:r>
              <a:t>Example: “I wanted to pick up a book.” A past desire; the outcome is unknown.</a:t>
            </a:r>
          </a:p>
        </p:txBody>
      </p:sp>
      <p:sp>
        <p:nvSpPr>
          <p:cNvPr id="5" name="Rectangle 4"/>
          <p:cNvSpPr/>
          <p:nvPr/>
        </p:nvSpPr>
        <p:spPr>
          <a:xfrm>
            <a:off x="594360" y="6437376"/>
            <a:ext cx="11000232" cy="13716"/>
          </a:xfrm>
          <a:prstGeom prst="rect">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4400092"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D3DFEA"/>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D3DFEA"/>
                </a:solidFill>
                <a:latin typeface="Segoe UI"/>
              </a:defRPr>
            </a:pPr>
            <a:r>
              <a:t>06 / 15</a:t>
            </a:r>
          </a:p>
        </p:txBody>
      </p:sp>
      <p:sp>
        <p:nvSpPr>
          <p:cNvPr id="9" name="Rounded Rectangle 8"/>
          <p:cNvSpPr/>
          <p:nvPr/>
        </p:nvSpPr>
        <p:spPr>
          <a:xfrm>
            <a:off x="594360" y="2212848"/>
            <a:ext cx="3474720" cy="1389888"/>
          </a:xfrm>
          <a:prstGeom prst="roundRect">
            <a:avLst>
              <a:gd name="adj" fmla="val 12000"/>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395728"/>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PREDICATE</a:t>
            </a:r>
          </a:p>
        </p:txBody>
      </p:sp>
      <p:sp>
        <p:nvSpPr>
          <p:cNvPr id="11" name="TextBox 10"/>
          <p:cNvSpPr txBox="1"/>
          <p:nvPr/>
        </p:nvSpPr>
        <p:spPr>
          <a:xfrm>
            <a:off x="795528" y="2807208"/>
            <a:ext cx="3063240" cy="393192"/>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FFFFFF"/>
                </a:solidFill>
                <a:latin typeface="Segoe UI"/>
              </a:defRPr>
            </a:pPr>
            <a:r>
              <a:t>pick up</a:t>
            </a:r>
          </a:p>
        </p:txBody>
      </p:sp>
      <p:sp>
        <p:nvSpPr>
          <p:cNvPr id="12" name="TextBox 11"/>
          <p:cNvSpPr txBox="1"/>
          <p:nvPr/>
        </p:nvSpPr>
        <p:spPr>
          <a:xfrm>
            <a:off x="795528" y="3264408"/>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200" b="0">
                <a:solidFill>
                  <a:srgbClr val="D3DFEA"/>
                </a:solidFill>
                <a:latin typeface="Segoe UI"/>
              </a:defRPr>
            </a:pPr>
            <a:r>
              <a:t>action + particle</a:t>
            </a:r>
          </a:p>
        </p:txBody>
      </p:sp>
      <p:sp>
        <p:nvSpPr>
          <p:cNvPr id="13" name="Rounded Rectangle 12"/>
          <p:cNvSpPr/>
          <p:nvPr/>
        </p:nvSpPr>
        <p:spPr>
          <a:xfrm>
            <a:off x="4352544" y="2212848"/>
            <a:ext cx="3474720" cy="1389888"/>
          </a:xfrm>
          <a:prstGeom prst="roundRect">
            <a:avLst>
              <a:gd name="adj" fmla="val 12000"/>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2395728"/>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97CDF8"/>
                </a:solidFill>
                <a:latin typeface="Segoe UI"/>
              </a:defRPr>
            </a:pPr>
            <a:r>
              <a:t>PARTICIPANTS</a:t>
            </a:r>
          </a:p>
        </p:txBody>
      </p:sp>
      <p:sp>
        <p:nvSpPr>
          <p:cNvPr id="15" name="TextBox 14"/>
          <p:cNvSpPr txBox="1"/>
          <p:nvPr/>
        </p:nvSpPr>
        <p:spPr>
          <a:xfrm>
            <a:off x="4553712" y="2807208"/>
            <a:ext cx="3063240" cy="393192"/>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FFFFFF"/>
                </a:solidFill>
                <a:latin typeface="Segoe UI"/>
              </a:defRPr>
            </a:pPr>
            <a:r>
              <a:t>user → a book</a:t>
            </a:r>
          </a:p>
        </p:txBody>
      </p:sp>
      <p:sp>
        <p:nvSpPr>
          <p:cNvPr id="16" name="TextBox 15"/>
          <p:cNvSpPr txBox="1"/>
          <p:nvPr/>
        </p:nvSpPr>
        <p:spPr>
          <a:xfrm>
            <a:off x="4553712" y="3264408"/>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200" b="0">
                <a:solidFill>
                  <a:srgbClr val="D3DFEA"/>
                </a:solidFill>
                <a:latin typeface="Segoe UI"/>
              </a:defRPr>
            </a:pPr>
            <a:r>
              <a:t>subject and object</a:t>
            </a:r>
          </a:p>
        </p:txBody>
      </p:sp>
      <p:sp>
        <p:nvSpPr>
          <p:cNvPr id="17" name="Rounded Rectangle 16"/>
          <p:cNvSpPr/>
          <p:nvPr/>
        </p:nvSpPr>
        <p:spPr>
          <a:xfrm>
            <a:off x="8110728" y="2212848"/>
            <a:ext cx="3474720" cy="1389888"/>
          </a:xfrm>
          <a:prstGeom prst="roundRect">
            <a:avLst>
              <a:gd name="adj" fmla="val 12000"/>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2395728"/>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FF936D"/>
                </a:solidFill>
                <a:latin typeface="Segoe UI"/>
              </a:defRPr>
            </a:pPr>
            <a:r>
              <a:t>OPERATOR</a:t>
            </a:r>
          </a:p>
        </p:txBody>
      </p:sp>
      <p:sp>
        <p:nvSpPr>
          <p:cNvPr id="19" name="TextBox 18"/>
          <p:cNvSpPr txBox="1"/>
          <p:nvPr/>
        </p:nvSpPr>
        <p:spPr>
          <a:xfrm>
            <a:off x="8311896" y="2807208"/>
            <a:ext cx="3063240" cy="393192"/>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FFFFFF"/>
                </a:solidFill>
                <a:latin typeface="Segoe UI"/>
              </a:defRPr>
            </a:pPr>
            <a:r>
              <a:t>want</a:t>
            </a:r>
          </a:p>
        </p:txBody>
      </p:sp>
      <p:sp>
        <p:nvSpPr>
          <p:cNvPr id="20" name="TextBox 19"/>
          <p:cNvSpPr txBox="1"/>
          <p:nvPr/>
        </p:nvSpPr>
        <p:spPr>
          <a:xfrm>
            <a:off x="8311896" y="3264408"/>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200" b="0">
                <a:solidFill>
                  <a:srgbClr val="D3DFEA"/>
                </a:solidFill>
                <a:latin typeface="Segoe UI"/>
              </a:defRPr>
            </a:pPr>
            <a:r>
              <a:t>desire</a:t>
            </a:r>
          </a:p>
        </p:txBody>
      </p:sp>
      <p:sp>
        <p:nvSpPr>
          <p:cNvPr id="21" name="Rounded Rectangle 20"/>
          <p:cNvSpPr/>
          <p:nvPr/>
        </p:nvSpPr>
        <p:spPr>
          <a:xfrm>
            <a:off x="594360" y="3858768"/>
            <a:ext cx="3474720" cy="1389888"/>
          </a:xfrm>
          <a:prstGeom prst="roundRect">
            <a:avLst>
              <a:gd name="adj" fmla="val 12000"/>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95528" y="4041648"/>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B6A7FF"/>
                </a:solidFill>
                <a:latin typeface="Segoe UI"/>
              </a:defRPr>
            </a:pPr>
            <a:r>
              <a:t>TENSE</a:t>
            </a:r>
          </a:p>
        </p:txBody>
      </p:sp>
      <p:sp>
        <p:nvSpPr>
          <p:cNvPr id="23" name="TextBox 22"/>
          <p:cNvSpPr txBox="1"/>
          <p:nvPr/>
        </p:nvSpPr>
        <p:spPr>
          <a:xfrm>
            <a:off x="795528" y="4453128"/>
            <a:ext cx="3063240" cy="393192"/>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FFFFFF"/>
                </a:solidFill>
                <a:latin typeface="Segoe UI"/>
              </a:defRPr>
            </a:pPr>
            <a:r>
              <a:t>past</a:t>
            </a:r>
          </a:p>
        </p:txBody>
      </p:sp>
      <p:sp>
        <p:nvSpPr>
          <p:cNvPr id="24" name="TextBox 23"/>
          <p:cNvSpPr txBox="1"/>
          <p:nvPr/>
        </p:nvSpPr>
        <p:spPr>
          <a:xfrm>
            <a:off x="795528" y="4910327"/>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200" b="0">
                <a:solidFill>
                  <a:srgbClr val="D3DFEA"/>
                </a:solidFill>
                <a:latin typeface="Segoe UI"/>
              </a:defRPr>
            </a:pPr>
            <a:r>
              <a:t>when the desire was expressed</a:t>
            </a:r>
          </a:p>
        </p:txBody>
      </p:sp>
      <p:sp>
        <p:nvSpPr>
          <p:cNvPr id="25" name="Rounded Rectangle 24"/>
          <p:cNvSpPr/>
          <p:nvPr/>
        </p:nvSpPr>
        <p:spPr>
          <a:xfrm>
            <a:off x="4352544" y="3858768"/>
            <a:ext cx="3474720" cy="1389888"/>
          </a:xfrm>
          <a:prstGeom prst="roundRect">
            <a:avLst>
              <a:gd name="adj" fmla="val 12000"/>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53712" y="4041648"/>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PHASE</a:t>
            </a:r>
          </a:p>
        </p:txBody>
      </p:sp>
      <p:sp>
        <p:nvSpPr>
          <p:cNvPr id="27" name="TextBox 26"/>
          <p:cNvSpPr txBox="1"/>
          <p:nvPr/>
        </p:nvSpPr>
        <p:spPr>
          <a:xfrm>
            <a:off x="4553712" y="4453128"/>
            <a:ext cx="3063240" cy="393192"/>
          </a:xfrm>
          <a:prstGeom prst="rect">
            <a:avLst/>
          </a:prstGeom>
          <a:noFill/>
        </p:spPr>
        <p:txBody>
          <a:bodyPr wrap="square" lIns="0" rIns="0" tIns="0" bIns="0" anchor="t">
            <a:spAutoFit/>
          </a:bodyPr>
          <a:lstStyle/>
          <a:p>
            <a:pPr algn="l">
              <a:lnSpc>
                <a:spcPct val="108000"/>
              </a:lnSpc>
              <a:spcBef>
                <a:spcPts val="0"/>
              </a:spcBef>
              <a:spcAft>
                <a:spcPts val="400"/>
              </a:spcAft>
              <a:defRPr lang="en-US" sz="2100" b="1">
                <a:solidFill>
                  <a:srgbClr val="FFFFFF"/>
                </a:solidFill>
                <a:latin typeface="Segoe UI"/>
              </a:defRPr>
            </a:pPr>
            <a:r>
              <a:t>unspecified</a:t>
            </a:r>
          </a:p>
        </p:txBody>
      </p:sp>
      <p:sp>
        <p:nvSpPr>
          <p:cNvPr id="28" name="TextBox 27"/>
          <p:cNvSpPr txBox="1"/>
          <p:nvPr/>
        </p:nvSpPr>
        <p:spPr>
          <a:xfrm>
            <a:off x="4553712" y="4910327"/>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200" b="0">
                <a:solidFill>
                  <a:srgbClr val="D3DFEA"/>
                </a:solidFill>
                <a:latin typeface="Segoe UI"/>
              </a:defRPr>
            </a:pPr>
            <a:r>
              <a:t>completion is not established</a:t>
            </a:r>
          </a:p>
        </p:txBody>
      </p:sp>
      <p:sp>
        <p:nvSpPr>
          <p:cNvPr id="29" name="Rounded Rectangle 28"/>
          <p:cNvSpPr/>
          <p:nvPr/>
        </p:nvSpPr>
        <p:spPr>
          <a:xfrm>
            <a:off x="8110728" y="3858768"/>
            <a:ext cx="3474720" cy="1389888"/>
          </a:xfrm>
          <a:prstGeom prst="roundRect">
            <a:avLst>
              <a:gd name="adj" fmla="val 12000"/>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11896" y="4041648"/>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97CDF8"/>
                </a:solidFill>
                <a:latin typeface="Segoe UI"/>
              </a:defRPr>
            </a:pPr>
            <a:r>
              <a:t>EVIDENCE</a:t>
            </a:r>
          </a:p>
        </p:txBody>
      </p:sp>
      <p:sp>
        <p:nvSpPr>
          <p:cNvPr id="31" name="TextBox 30"/>
          <p:cNvSpPr txBox="1"/>
          <p:nvPr/>
        </p:nvSpPr>
        <p:spPr>
          <a:xfrm>
            <a:off x="8311896" y="4453128"/>
            <a:ext cx="3063240" cy="393192"/>
          </a:xfrm>
          <a:prstGeom prst="rect">
            <a:avLst/>
          </a:prstGeom>
          <a:noFill/>
        </p:spPr>
        <p:txBody>
          <a:bodyPr wrap="square" lIns="0" rIns="0" tIns="0" bIns="0" anchor="t">
            <a:spAutoFit/>
          </a:bodyPr>
          <a:lstStyle/>
          <a:p>
            <a:pPr algn="l">
              <a:lnSpc>
                <a:spcPct val="108000"/>
              </a:lnSpc>
              <a:spcBef>
                <a:spcPts val="0"/>
              </a:spcBef>
              <a:spcAft>
                <a:spcPts val="400"/>
              </a:spcAft>
              <a:defRPr lang="en-US" sz="1750" b="1">
                <a:solidFill>
                  <a:srgbClr val="FFFFFF"/>
                </a:solidFill>
                <a:latin typeface="Segoe UI"/>
              </a:defRPr>
            </a:pPr>
            <a:r>
              <a:t>user utterance</a:t>
            </a:r>
          </a:p>
        </p:txBody>
      </p:sp>
      <p:sp>
        <p:nvSpPr>
          <p:cNvPr id="32" name="TextBox 31"/>
          <p:cNvSpPr txBox="1"/>
          <p:nvPr/>
        </p:nvSpPr>
        <p:spPr>
          <a:xfrm>
            <a:off x="8311896" y="4910327"/>
            <a:ext cx="306324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200" b="0">
                <a:solidFill>
                  <a:srgbClr val="D3DFEA"/>
                </a:solidFill>
                <a:latin typeface="Segoe UI"/>
              </a:defRPr>
            </a:pPr>
            <a:r>
              <a:t>a precise link to the source</a:t>
            </a:r>
          </a:p>
        </p:txBody>
      </p:sp>
      <p:sp>
        <p:nvSpPr>
          <p:cNvPr id="33" name="TextBox 32"/>
          <p:cNvSpPr txBox="1"/>
          <p:nvPr/>
        </p:nvSpPr>
        <p:spPr>
          <a:xfrm>
            <a:off x="621792" y="5833872"/>
            <a:ext cx="10954512" cy="356616"/>
          </a:xfrm>
          <a:prstGeom prst="rect">
            <a:avLst/>
          </a:prstGeom>
          <a:noFill/>
        </p:spPr>
        <p:txBody>
          <a:bodyPr wrap="square" lIns="0" rIns="0" tIns="0" bIns="0" anchor="t">
            <a:spAutoFit/>
          </a:bodyPr>
          <a:lstStyle/>
          <a:p>
            <a:pPr algn="l">
              <a:lnSpc>
                <a:spcPct val="108000"/>
              </a:lnSpc>
              <a:spcBef>
                <a:spcPts val="0"/>
              </a:spcBef>
              <a:spcAft>
                <a:spcPts val="400"/>
              </a:spcAft>
              <a:defRPr lang="en-US" sz="2000" b="1">
                <a:solidFill>
                  <a:srgbClr val="45D6AF"/>
                </a:solidFill>
                <a:latin typeface="Segoe UI"/>
              </a:defRPr>
            </a:pPr>
            <a:r>
              <a:t>Tense, modality and completion are separate attributes.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06 / CONSTRUCTIONS AND TENSES</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Vary the grammar. Preserve the meaning.</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Supported dialogue scenarios use present, past and future forms.</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5133441"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07 / 15</a:t>
            </a:r>
          </a:p>
        </p:txBody>
      </p:sp>
      <p:sp>
        <p:nvSpPr>
          <p:cNvPr id="9" name="Rounded Rectangle 8"/>
          <p:cNvSpPr/>
          <p:nvPr/>
        </p:nvSpPr>
        <p:spPr>
          <a:xfrm>
            <a:off x="594360" y="2121408"/>
            <a:ext cx="11000232" cy="521207"/>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240279"/>
            <a:ext cx="50292" cy="265176"/>
          </a:xfrm>
          <a:prstGeom prst="rect">
            <a:avLst/>
          </a:prstGeom>
          <a:solidFill>
            <a:srgbClr val="B6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 y="2221991"/>
            <a:ext cx="6172200" cy="347472"/>
          </a:xfrm>
          <a:prstGeom prst="rect">
            <a:avLst/>
          </a:prstGeom>
          <a:noFill/>
        </p:spPr>
        <p:txBody>
          <a:bodyPr wrap="square" lIns="0" rIns="0" tIns="0" bIns="0" anchor="t">
            <a:spAutoFit/>
          </a:bodyPr>
          <a:lstStyle/>
          <a:p>
            <a:pPr algn="l">
              <a:lnSpc>
                <a:spcPct val="108000"/>
              </a:lnSpc>
              <a:spcBef>
                <a:spcPts val="0"/>
              </a:spcBef>
              <a:spcAft>
                <a:spcPts val="400"/>
              </a:spcAft>
              <a:defRPr lang="en-US" sz="1900" b="0">
                <a:solidFill>
                  <a:srgbClr val="1F344B"/>
                </a:solidFill>
                <a:latin typeface="Segoe UI"/>
              </a:defRPr>
            </a:pPr>
            <a:r>
              <a:t>I want to buy a book.</a:t>
            </a:r>
          </a:p>
        </p:txBody>
      </p:sp>
      <p:sp>
        <p:nvSpPr>
          <p:cNvPr id="12" name="TextBox 11"/>
          <p:cNvSpPr txBox="1"/>
          <p:nvPr/>
        </p:nvSpPr>
        <p:spPr>
          <a:xfrm>
            <a:off x="7498079" y="2249424"/>
            <a:ext cx="3794760" cy="283464"/>
          </a:xfrm>
          <a:prstGeom prst="rect">
            <a:avLst/>
          </a:prstGeom>
          <a:noFill/>
        </p:spPr>
        <p:txBody>
          <a:bodyPr wrap="square" lIns="0" rIns="0" tIns="0" bIns="0" anchor="t">
            <a:spAutoFit/>
          </a:bodyPr>
          <a:lstStyle/>
          <a:p>
            <a:pPr algn="l">
              <a:lnSpc>
                <a:spcPct val="108000"/>
              </a:lnSpc>
              <a:spcBef>
                <a:spcPts val="0"/>
              </a:spcBef>
              <a:spcAft>
                <a:spcPts val="200"/>
              </a:spcAft>
              <a:defRPr lang="en-US" sz="1600" b="0">
                <a:solidFill>
                  <a:srgbClr val="607487"/>
                </a:solidFill>
                <a:latin typeface="Segoe UI"/>
              </a:defRPr>
            </a:pPr>
            <a:r>
              <a:t>present desire</a:t>
            </a:r>
          </a:p>
        </p:txBody>
      </p:sp>
      <p:sp>
        <p:nvSpPr>
          <p:cNvPr id="13" name="Rounded Rectangle 12"/>
          <p:cNvSpPr/>
          <p:nvPr/>
        </p:nvSpPr>
        <p:spPr>
          <a:xfrm>
            <a:off x="594360" y="2761487"/>
            <a:ext cx="11000232" cy="521207"/>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94360" y="2880359"/>
            <a:ext cx="50292" cy="265176"/>
          </a:xfrm>
          <a:prstGeom prst="rect">
            <a:avLst/>
          </a:prstGeom>
          <a:solidFill>
            <a:srgbClr val="B6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 y="2862071"/>
            <a:ext cx="6172200" cy="347472"/>
          </a:xfrm>
          <a:prstGeom prst="rect">
            <a:avLst/>
          </a:prstGeom>
          <a:noFill/>
        </p:spPr>
        <p:txBody>
          <a:bodyPr wrap="square" lIns="0" rIns="0" tIns="0" bIns="0" anchor="t">
            <a:spAutoFit/>
          </a:bodyPr>
          <a:lstStyle/>
          <a:p>
            <a:pPr algn="l">
              <a:lnSpc>
                <a:spcPct val="108000"/>
              </a:lnSpc>
              <a:spcBef>
                <a:spcPts val="0"/>
              </a:spcBef>
              <a:spcAft>
                <a:spcPts val="400"/>
              </a:spcAft>
              <a:defRPr lang="en-US" sz="1900" b="0">
                <a:solidFill>
                  <a:srgbClr val="1F344B"/>
                </a:solidFill>
                <a:latin typeface="Segoe UI"/>
              </a:defRPr>
            </a:pPr>
            <a:r>
              <a:t>I wanted to buy a book.</a:t>
            </a:r>
          </a:p>
        </p:txBody>
      </p:sp>
      <p:sp>
        <p:nvSpPr>
          <p:cNvPr id="16" name="TextBox 15"/>
          <p:cNvSpPr txBox="1"/>
          <p:nvPr/>
        </p:nvSpPr>
        <p:spPr>
          <a:xfrm>
            <a:off x="7498079" y="2889503"/>
            <a:ext cx="3794760" cy="283464"/>
          </a:xfrm>
          <a:prstGeom prst="rect">
            <a:avLst/>
          </a:prstGeom>
          <a:noFill/>
        </p:spPr>
        <p:txBody>
          <a:bodyPr wrap="square" lIns="0" rIns="0" tIns="0" bIns="0" anchor="t">
            <a:spAutoFit/>
          </a:bodyPr>
          <a:lstStyle/>
          <a:p>
            <a:pPr algn="l">
              <a:lnSpc>
                <a:spcPct val="108000"/>
              </a:lnSpc>
              <a:spcBef>
                <a:spcPts val="0"/>
              </a:spcBef>
              <a:spcAft>
                <a:spcPts val="200"/>
              </a:spcAft>
              <a:defRPr lang="en-US" sz="1600" b="0">
                <a:solidFill>
                  <a:srgbClr val="607487"/>
                </a:solidFill>
                <a:latin typeface="Segoe UI"/>
              </a:defRPr>
            </a:pPr>
            <a:r>
              <a:t>past desire</a:t>
            </a:r>
          </a:p>
        </p:txBody>
      </p:sp>
      <p:sp>
        <p:nvSpPr>
          <p:cNvPr id="17" name="Rounded Rectangle 16"/>
          <p:cNvSpPr/>
          <p:nvPr/>
        </p:nvSpPr>
        <p:spPr>
          <a:xfrm>
            <a:off x="594360" y="3401568"/>
            <a:ext cx="11000232" cy="521207"/>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3520439"/>
            <a:ext cx="50292" cy="265176"/>
          </a:xfrm>
          <a:prstGeom prst="rect">
            <a:avLst/>
          </a:prstGeom>
          <a:solidFill>
            <a:srgbClr val="97C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 y="3502151"/>
            <a:ext cx="6172200" cy="347472"/>
          </a:xfrm>
          <a:prstGeom prst="rect">
            <a:avLst/>
          </a:prstGeom>
          <a:noFill/>
        </p:spPr>
        <p:txBody>
          <a:bodyPr wrap="square" lIns="0" rIns="0" tIns="0" bIns="0" anchor="t">
            <a:spAutoFit/>
          </a:bodyPr>
          <a:lstStyle/>
          <a:p>
            <a:pPr algn="l">
              <a:lnSpc>
                <a:spcPct val="108000"/>
              </a:lnSpc>
              <a:spcBef>
                <a:spcPts val="0"/>
              </a:spcBef>
              <a:spcAft>
                <a:spcPts val="400"/>
              </a:spcAft>
              <a:defRPr lang="en-US" sz="1900" b="0">
                <a:solidFill>
                  <a:srgbClr val="1F344B"/>
                </a:solidFill>
                <a:latin typeface="Segoe UI"/>
              </a:defRPr>
            </a:pPr>
            <a:r>
              <a:t>I will buy a book.</a:t>
            </a:r>
          </a:p>
        </p:txBody>
      </p:sp>
      <p:sp>
        <p:nvSpPr>
          <p:cNvPr id="20" name="TextBox 19"/>
          <p:cNvSpPr txBox="1"/>
          <p:nvPr/>
        </p:nvSpPr>
        <p:spPr>
          <a:xfrm>
            <a:off x="7498079" y="3529584"/>
            <a:ext cx="3794760" cy="283464"/>
          </a:xfrm>
          <a:prstGeom prst="rect">
            <a:avLst/>
          </a:prstGeom>
          <a:noFill/>
        </p:spPr>
        <p:txBody>
          <a:bodyPr wrap="square" lIns="0" rIns="0" tIns="0" bIns="0" anchor="t">
            <a:spAutoFit/>
          </a:bodyPr>
          <a:lstStyle/>
          <a:p>
            <a:pPr algn="l">
              <a:lnSpc>
                <a:spcPct val="108000"/>
              </a:lnSpc>
              <a:spcBef>
                <a:spcPts val="0"/>
              </a:spcBef>
              <a:spcAft>
                <a:spcPts val="200"/>
              </a:spcAft>
              <a:defRPr lang="en-US" sz="1600" b="0">
                <a:solidFill>
                  <a:srgbClr val="607487"/>
                </a:solidFill>
                <a:latin typeface="Segoe UI"/>
              </a:defRPr>
            </a:pPr>
            <a:r>
              <a:t>future action</a:t>
            </a:r>
          </a:p>
        </p:txBody>
      </p:sp>
      <p:sp>
        <p:nvSpPr>
          <p:cNvPr id="21" name="Rounded Rectangle 20"/>
          <p:cNvSpPr/>
          <p:nvPr/>
        </p:nvSpPr>
        <p:spPr>
          <a:xfrm>
            <a:off x="594360" y="4041648"/>
            <a:ext cx="11000232" cy="521207"/>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4160520"/>
            <a:ext cx="50292" cy="265176"/>
          </a:xfrm>
          <a:prstGeom prst="rect">
            <a:avLst/>
          </a:prstGeom>
          <a:solidFill>
            <a:srgbClr val="FF9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2104" y="4142232"/>
            <a:ext cx="6172200" cy="347472"/>
          </a:xfrm>
          <a:prstGeom prst="rect">
            <a:avLst/>
          </a:prstGeom>
          <a:noFill/>
        </p:spPr>
        <p:txBody>
          <a:bodyPr wrap="square" lIns="0" rIns="0" tIns="0" bIns="0" anchor="t">
            <a:spAutoFit/>
          </a:bodyPr>
          <a:lstStyle/>
          <a:p>
            <a:pPr algn="l">
              <a:lnSpc>
                <a:spcPct val="108000"/>
              </a:lnSpc>
              <a:spcBef>
                <a:spcPts val="0"/>
              </a:spcBef>
              <a:spcAft>
                <a:spcPts val="400"/>
              </a:spcAft>
              <a:defRPr lang="en-US" sz="1900" b="0">
                <a:solidFill>
                  <a:srgbClr val="1F344B"/>
                </a:solidFill>
                <a:latin typeface="Segoe UI"/>
              </a:defRPr>
            </a:pPr>
            <a:r>
              <a:t>I am buying a book.</a:t>
            </a:r>
          </a:p>
        </p:txBody>
      </p:sp>
      <p:sp>
        <p:nvSpPr>
          <p:cNvPr id="24" name="TextBox 23"/>
          <p:cNvSpPr txBox="1"/>
          <p:nvPr/>
        </p:nvSpPr>
        <p:spPr>
          <a:xfrm>
            <a:off x="7498079" y="4169663"/>
            <a:ext cx="3794760" cy="283464"/>
          </a:xfrm>
          <a:prstGeom prst="rect">
            <a:avLst/>
          </a:prstGeom>
          <a:noFill/>
        </p:spPr>
        <p:txBody>
          <a:bodyPr wrap="square" lIns="0" rIns="0" tIns="0" bIns="0" anchor="t">
            <a:spAutoFit/>
          </a:bodyPr>
          <a:lstStyle/>
          <a:p>
            <a:pPr algn="l">
              <a:lnSpc>
                <a:spcPct val="108000"/>
              </a:lnSpc>
              <a:spcBef>
                <a:spcPts val="0"/>
              </a:spcBef>
              <a:spcAft>
                <a:spcPts val="200"/>
              </a:spcAft>
              <a:defRPr lang="en-US" sz="1600" b="0">
                <a:solidFill>
                  <a:srgbClr val="607487"/>
                </a:solidFill>
                <a:latin typeface="Segoe UI"/>
              </a:defRPr>
            </a:pPr>
            <a:r>
              <a:t>action in progress</a:t>
            </a:r>
          </a:p>
        </p:txBody>
      </p:sp>
      <p:sp>
        <p:nvSpPr>
          <p:cNvPr id="25" name="Rounded Rectangle 24"/>
          <p:cNvSpPr/>
          <p:nvPr/>
        </p:nvSpPr>
        <p:spPr>
          <a:xfrm>
            <a:off x="594360" y="4681727"/>
            <a:ext cx="11000232" cy="521207"/>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 y="4800599"/>
            <a:ext cx="50292" cy="265176"/>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2104" y="4782312"/>
            <a:ext cx="6172200" cy="347472"/>
          </a:xfrm>
          <a:prstGeom prst="rect">
            <a:avLst/>
          </a:prstGeom>
          <a:noFill/>
        </p:spPr>
        <p:txBody>
          <a:bodyPr wrap="square" lIns="0" rIns="0" tIns="0" bIns="0" anchor="t">
            <a:spAutoFit/>
          </a:bodyPr>
          <a:lstStyle/>
          <a:p>
            <a:pPr algn="l">
              <a:lnSpc>
                <a:spcPct val="108000"/>
              </a:lnSpc>
              <a:spcBef>
                <a:spcPts val="0"/>
              </a:spcBef>
              <a:spcAft>
                <a:spcPts val="400"/>
              </a:spcAft>
              <a:defRPr lang="en-US" sz="1900" b="0">
                <a:solidFill>
                  <a:srgbClr val="1F344B"/>
                </a:solidFill>
                <a:latin typeface="Segoe UI"/>
              </a:defRPr>
            </a:pPr>
            <a:r>
              <a:t>I bought a book.</a:t>
            </a:r>
          </a:p>
        </p:txBody>
      </p:sp>
      <p:sp>
        <p:nvSpPr>
          <p:cNvPr id="28" name="TextBox 27"/>
          <p:cNvSpPr txBox="1"/>
          <p:nvPr/>
        </p:nvSpPr>
        <p:spPr>
          <a:xfrm>
            <a:off x="7498079" y="4809743"/>
            <a:ext cx="3794760" cy="283464"/>
          </a:xfrm>
          <a:prstGeom prst="rect">
            <a:avLst/>
          </a:prstGeom>
          <a:noFill/>
        </p:spPr>
        <p:txBody>
          <a:bodyPr wrap="square" lIns="0" rIns="0" tIns="0" bIns="0" anchor="t">
            <a:spAutoFit/>
          </a:bodyPr>
          <a:lstStyle/>
          <a:p>
            <a:pPr algn="l">
              <a:lnSpc>
                <a:spcPct val="108000"/>
              </a:lnSpc>
              <a:spcBef>
                <a:spcPts val="0"/>
              </a:spcBef>
              <a:spcAft>
                <a:spcPts val="200"/>
              </a:spcAft>
              <a:defRPr lang="en-US" sz="1600" b="0">
                <a:solidFill>
                  <a:srgbClr val="607487"/>
                </a:solidFill>
                <a:latin typeface="Segoe UI"/>
              </a:defRPr>
            </a:pPr>
            <a:r>
              <a:t>reported purchase</a:t>
            </a:r>
          </a:p>
        </p:txBody>
      </p:sp>
      <p:sp>
        <p:nvSpPr>
          <p:cNvPr id="29" name="Rounded Rectangle 28"/>
          <p:cNvSpPr/>
          <p:nvPr/>
        </p:nvSpPr>
        <p:spPr>
          <a:xfrm>
            <a:off x="594360" y="5596128"/>
            <a:ext cx="11000232" cy="594360"/>
          </a:xfrm>
          <a:prstGeom prst="roundRect">
            <a:avLst>
              <a:gd name="adj" fmla="val 12000"/>
            </a:avLst>
          </a:prstGeom>
          <a:solidFill>
            <a:srgbClr val="EE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779008"/>
            <a:ext cx="10570464" cy="310896"/>
          </a:xfrm>
          <a:prstGeom prst="rect">
            <a:avLst/>
          </a:prstGeom>
          <a:noFill/>
        </p:spPr>
        <p:txBody>
          <a:bodyPr wrap="square" lIns="0" rIns="0" tIns="0" bIns="0" anchor="t">
            <a:spAutoFit/>
          </a:bodyPr>
          <a:lstStyle/>
          <a:p>
            <a:pPr algn="l">
              <a:lnSpc>
                <a:spcPct val="108000"/>
              </a:lnSpc>
              <a:spcBef>
                <a:spcPts val="0"/>
              </a:spcBef>
              <a:spcAft>
                <a:spcPts val="200"/>
              </a:spcAft>
              <a:defRPr lang="en-US" sz="1620" b="1">
                <a:solidFill>
                  <a:srgbClr val="122337"/>
                </a:solidFill>
                <a:latin typeface="Segoe UI"/>
              </a:defRPr>
            </a:pPr>
            <a:r>
              <a:t>Exhaustive coverage of every verb × every compatible tense is not yet implemented.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07 / THREE VIEWS</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One episode. Three learning tasks.</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Memory and History answer the question. Extraction updates the state.</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5866790"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08 / 15</a:t>
            </a:r>
          </a:p>
        </p:txBody>
      </p:sp>
      <p:sp>
        <p:nvSpPr>
          <p:cNvPr id="9" name="Rounded Rectangle 8"/>
          <p:cNvSpPr/>
          <p:nvPr/>
        </p:nvSpPr>
        <p:spPr>
          <a:xfrm>
            <a:off x="594360" y="2176272"/>
            <a:ext cx="3474720" cy="3337560"/>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2359152"/>
            <a:ext cx="41148" cy="493776"/>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395728"/>
            <a:ext cx="3072384"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ANSWER FROM MEMORY</a:t>
            </a:r>
          </a:p>
        </p:txBody>
      </p:sp>
      <p:sp>
        <p:nvSpPr>
          <p:cNvPr id="12" name="TextBox 11"/>
          <p:cNvSpPr txBox="1"/>
          <p:nvPr/>
        </p:nvSpPr>
        <p:spPr>
          <a:xfrm>
            <a:off x="795528" y="2852928"/>
            <a:ext cx="3072384" cy="841248"/>
          </a:xfrm>
          <a:prstGeom prst="rect">
            <a:avLst/>
          </a:prstGeom>
          <a:noFill/>
        </p:spPr>
        <p:txBody>
          <a:bodyPr wrap="square" lIns="0" rIns="0" tIns="0" bIns="0" anchor="t">
            <a:spAutoFit/>
          </a:bodyPr>
          <a:lstStyle/>
          <a:p>
            <a:pPr algn="l">
              <a:lnSpc>
                <a:spcPct val="108000"/>
              </a:lnSpc>
              <a:spcBef>
                <a:spcPts val="0"/>
              </a:spcBef>
              <a:spcAft>
                <a:spcPts val="400"/>
              </a:spcAft>
              <a:defRPr lang="en-US" sz="2300" b="1">
                <a:solidFill>
                  <a:srgbClr val="122337"/>
                </a:solidFill>
                <a:latin typeface="Segoe UI"/>
              </a:defRPr>
            </a:pPr>
            <a:r>
              <a:t>Memory</a:t>
            </a:r>
          </a:p>
        </p:txBody>
      </p:sp>
      <p:sp>
        <p:nvSpPr>
          <p:cNvPr id="13" name="TextBox 12"/>
          <p:cNvSpPr txBox="1"/>
          <p:nvPr/>
        </p:nvSpPr>
        <p:spPr>
          <a:xfrm>
            <a:off x="795528" y="3822191"/>
            <a:ext cx="3072384" cy="1554480"/>
          </a:xfrm>
          <a:prstGeom prst="rect">
            <a:avLst/>
          </a:prstGeom>
          <a:noFill/>
        </p:spPr>
        <p:txBody>
          <a:bodyPr wrap="square" lIns="0" rIns="0" tIns="0" bIns="0" anchor="t">
            <a:spAutoFit/>
          </a:bodyPr>
          <a:lstStyle/>
          <a:p>
            <a:pPr algn="l">
              <a:lnSpc>
                <a:spcPct val="108000"/>
              </a:lnSpc>
              <a:spcBef>
                <a:spcPts val="0"/>
              </a:spcBef>
              <a:spcAft>
                <a:spcPts val="200"/>
              </a:spcAft>
              <a:defRPr lang="en-US" sz="1610" b="0">
                <a:solidFill>
                  <a:srgbClr val="607487"/>
                </a:solidFill>
                <a:latin typeface="Segoe UI"/>
              </a:defRPr>
            </a:pPr>
            <a:r>
              <a:t>Reference memory</a:t>
            </a:r>
          </a:p>
          <a:p>
            <a:pPr algn="l">
              <a:lnSpc>
                <a:spcPct val="108000"/>
              </a:lnSpc>
              <a:spcBef>
                <a:spcPts val="0"/>
              </a:spcBef>
              <a:spcAft>
                <a:spcPts val="200"/>
              </a:spcAft>
              <a:defRPr lang="en-US" sz="1610" b="0">
                <a:solidFill>
                  <a:srgbClr val="607487"/>
                </a:solidFill>
                <a:latin typeface="Segoe UI"/>
              </a:defRPr>
            </a:pPr>
            <a:r>
              <a:t>+ latest utterance</a:t>
            </a:r>
          </a:p>
          <a:p>
            <a:pPr algn="l">
              <a:lnSpc>
                <a:spcPct val="108000"/>
              </a:lnSpc>
              <a:spcBef>
                <a:spcPts val="0"/>
              </a:spcBef>
              <a:spcAft>
                <a:spcPts val="200"/>
              </a:spcAft>
              <a:defRPr lang="en-US" sz="1610" b="0">
                <a:solidFill>
                  <a:srgbClr val="607487"/>
                </a:solidFill>
                <a:latin typeface="Segoe UI"/>
              </a:defRPr>
            </a:pPr>
          </a:p>
          <a:p>
            <a:pPr algn="l">
              <a:lnSpc>
                <a:spcPct val="108000"/>
              </a:lnSpc>
              <a:spcBef>
                <a:spcPts val="0"/>
              </a:spcBef>
              <a:spcAft>
                <a:spcPts val="200"/>
              </a:spcAft>
              <a:defRPr lang="en-US" sz="1610" b="0">
                <a:solidFill>
                  <a:srgbClr val="607487"/>
                </a:solidFill>
                <a:latin typeface="Segoe UI"/>
              </a:defRPr>
            </a:pPr>
            <a:r>
              <a:t>→ natural-language answer</a:t>
            </a:r>
          </a:p>
        </p:txBody>
      </p:sp>
      <p:sp>
        <p:nvSpPr>
          <p:cNvPr id="14" name="Rounded Rectangle 13"/>
          <p:cNvSpPr/>
          <p:nvPr/>
        </p:nvSpPr>
        <p:spPr>
          <a:xfrm>
            <a:off x="4361688" y="2176272"/>
            <a:ext cx="3474720" cy="3337560"/>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61688" y="2359152"/>
            <a:ext cx="41148" cy="493776"/>
          </a:xfrm>
          <a:prstGeom prst="rect">
            <a:avLst/>
          </a:prstGeom>
          <a:solidFill>
            <a:srgbClr val="97C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62855" y="2395728"/>
            <a:ext cx="3072384"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ANSWER FROM HISTORY</a:t>
            </a:r>
          </a:p>
        </p:txBody>
      </p:sp>
      <p:sp>
        <p:nvSpPr>
          <p:cNvPr id="17" name="TextBox 16"/>
          <p:cNvSpPr txBox="1"/>
          <p:nvPr/>
        </p:nvSpPr>
        <p:spPr>
          <a:xfrm>
            <a:off x="4562855" y="2852928"/>
            <a:ext cx="3072384" cy="841248"/>
          </a:xfrm>
          <a:prstGeom prst="rect">
            <a:avLst/>
          </a:prstGeom>
          <a:noFill/>
        </p:spPr>
        <p:txBody>
          <a:bodyPr wrap="square" lIns="0" rIns="0" tIns="0" bIns="0" anchor="t">
            <a:spAutoFit/>
          </a:bodyPr>
          <a:lstStyle/>
          <a:p>
            <a:pPr algn="l">
              <a:lnSpc>
                <a:spcPct val="108000"/>
              </a:lnSpc>
              <a:spcBef>
                <a:spcPts val="0"/>
              </a:spcBef>
              <a:spcAft>
                <a:spcPts val="400"/>
              </a:spcAft>
              <a:defRPr lang="en-US" sz="2300" b="1">
                <a:solidFill>
                  <a:srgbClr val="122337"/>
                </a:solidFill>
                <a:latin typeface="Segoe UI"/>
              </a:defRPr>
            </a:pPr>
            <a:r>
              <a:t>History</a:t>
            </a:r>
          </a:p>
        </p:txBody>
      </p:sp>
      <p:sp>
        <p:nvSpPr>
          <p:cNvPr id="18" name="TextBox 17"/>
          <p:cNvSpPr txBox="1"/>
          <p:nvPr/>
        </p:nvSpPr>
        <p:spPr>
          <a:xfrm>
            <a:off x="4562855" y="3822191"/>
            <a:ext cx="3072384" cy="1554480"/>
          </a:xfrm>
          <a:prstGeom prst="rect">
            <a:avLst/>
          </a:prstGeom>
          <a:noFill/>
        </p:spPr>
        <p:txBody>
          <a:bodyPr wrap="square" lIns="0" rIns="0" tIns="0" bIns="0" anchor="t">
            <a:spAutoFit/>
          </a:bodyPr>
          <a:lstStyle/>
          <a:p>
            <a:pPr algn="l">
              <a:lnSpc>
                <a:spcPct val="108000"/>
              </a:lnSpc>
              <a:spcBef>
                <a:spcPts val="0"/>
              </a:spcBef>
              <a:spcAft>
                <a:spcPts val="200"/>
              </a:spcAft>
              <a:defRPr lang="en-US" sz="1610" b="0">
                <a:solidFill>
                  <a:srgbClr val="607487"/>
                </a:solidFill>
                <a:latin typeface="Segoe UI"/>
              </a:defRPr>
            </a:pPr>
            <a:r>
              <a:t>Previous utterances</a:t>
            </a:r>
          </a:p>
          <a:p>
            <a:pPr algn="l">
              <a:lnSpc>
                <a:spcPct val="108000"/>
              </a:lnSpc>
              <a:spcBef>
                <a:spcPts val="0"/>
              </a:spcBef>
              <a:spcAft>
                <a:spcPts val="200"/>
              </a:spcAft>
              <a:defRPr lang="en-US" sz="1610" b="0">
                <a:solidFill>
                  <a:srgbClr val="607487"/>
                </a:solidFill>
                <a:latin typeface="Segoe UI"/>
              </a:defRPr>
            </a:pPr>
            <a:r>
              <a:t>+ latest utterance</a:t>
            </a:r>
          </a:p>
          <a:p>
            <a:pPr algn="l">
              <a:lnSpc>
                <a:spcPct val="108000"/>
              </a:lnSpc>
              <a:spcBef>
                <a:spcPts val="0"/>
              </a:spcBef>
              <a:spcAft>
                <a:spcPts val="200"/>
              </a:spcAft>
              <a:defRPr lang="en-US" sz="1610" b="0">
                <a:solidFill>
                  <a:srgbClr val="607487"/>
                </a:solidFill>
                <a:latin typeface="Segoe UI"/>
              </a:defRPr>
            </a:pPr>
          </a:p>
          <a:p>
            <a:pPr algn="l">
              <a:lnSpc>
                <a:spcPct val="108000"/>
              </a:lnSpc>
              <a:spcBef>
                <a:spcPts val="0"/>
              </a:spcBef>
              <a:spcAft>
                <a:spcPts val="200"/>
              </a:spcAft>
              <a:defRPr lang="en-US" sz="1610" b="0">
                <a:solidFill>
                  <a:srgbClr val="607487"/>
                </a:solidFill>
                <a:latin typeface="Segoe UI"/>
              </a:defRPr>
            </a:pPr>
            <a:r>
              <a:t>→ the same answer</a:t>
            </a:r>
          </a:p>
        </p:txBody>
      </p:sp>
      <p:sp>
        <p:nvSpPr>
          <p:cNvPr id="19" name="Rounded Rectangle 18"/>
          <p:cNvSpPr/>
          <p:nvPr/>
        </p:nvSpPr>
        <p:spPr>
          <a:xfrm>
            <a:off x="8119872" y="2176272"/>
            <a:ext cx="3474720" cy="3337560"/>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19872" y="2359152"/>
            <a:ext cx="41148" cy="493776"/>
          </a:xfrm>
          <a:prstGeom prst="rect">
            <a:avLst/>
          </a:prstGeom>
          <a:solidFill>
            <a:srgbClr val="FF9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2395728"/>
            <a:ext cx="3072384"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UPDATE MEMORY</a:t>
            </a:r>
          </a:p>
        </p:txBody>
      </p:sp>
      <p:sp>
        <p:nvSpPr>
          <p:cNvPr id="22" name="TextBox 21"/>
          <p:cNvSpPr txBox="1"/>
          <p:nvPr/>
        </p:nvSpPr>
        <p:spPr>
          <a:xfrm>
            <a:off x="8321040" y="2852928"/>
            <a:ext cx="3072384" cy="841248"/>
          </a:xfrm>
          <a:prstGeom prst="rect">
            <a:avLst/>
          </a:prstGeom>
          <a:noFill/>
        </p:spPr>
        <p:txBody>
          <a:bodyPr wrap="square" lIns="0" rIns="0" tIns="0" bIns="0" anchor="t">
            <a:spAutoFit/>
          </a:bodyPr>
          <a:lstStyle/>
          <a:p>
            <a:pPr algn="l">
              <a:lnSpc>
                <a:spcPct val="108000"/>
              </a:lnSpc>
              <a:spcBef>
                <a:spcPts val="0"/>
              </a:spcBef>
              <a:spcAft>
                <a:spcPts val="400"/>
              </a:spcAft>
              <a:defRPr lang="en-US" sz="2300" b="1">
                <a:solidFill>
                  <a:srgbClr val="122337"/>
                </a:solidFill>
                <a:latin typeface="Segoe UI"/>
              </a:defRPr>
            </a:pPr>
            <a:r>
              <a:t>Extraction</a:t>
            </a:r>
          </a:p>
        </p:txBody>
      </p:sp>
      <p:sp>
        <p:nvSpPr>
          <p:cNvPr id="23" name="TextBox 22"/>
          <p:cNvSpPr txBox="1"/>
          <p:nvPr/>
        </p:nvSpPr>
        <p:spPr>
          <a:xfrm>
            <a:off x="8321040" y="3822191"/>
            <a:ext cx="3072384" cy="1554480"/>
          </a:xfrm>
          <a:prstGeom prst="rect">
            <a:avLst/>
          </a:prstGeom>
          <a:noFill/>
        </p:spPr>
        <p:txBody>
          <a:bodyPr wrap="square" lIns="0" rIns="0" tIns="0" bIns="0" anchor="t">
            <a:spAutoFit/>
          </a:bodyPr>
          <a:lstStyle/>
          <a:p>
            <a:pPr algn="l">
              <a:lnSpc>
                <a:spcPct val="108000"/>
              </a:lnSpc>
              <a:spcBef>
                <a:spcPts val="0"/>
              </a:spcBef>
              <a:spcAft>
                <a:spcPts val="200"/>
              </a:spcAft>
              <a:defRPr lang="en-US" sz="1610" b="0">
                <a:solidFill>
                  <a:srgbClr val="607487"/>
                </a:solidFill>
                <a:latin typeface="Segoe UI"/>
              </a:defRPr>
            </a:pPr>
            <a:r>
              <a:t>Prior memory + context</a:t>
            </a:r>
          </a:p>
          <a:p>
            <a:pPr algn="l">
              <a:lnSpc>
                <a:spcPct val="108000"/>
              </a:lnSpc>
              <a:spcBef>
                <a:spcPts val="0"/>
              </a:spcBef>
              <a:spcAft>
                <a:spcPts val="200"/>
              </a:spcAft>
              <a:defRPr lang="en-US" sz="1610" b="0">
                <a:solidFill>
                  <a:srgbClr val="607487"/>
                </a:solidFill>
                <a:latin typeface="Segoe UI"/>
              </a:defRPr>
            </a:pPr>
            <a:r>
              <a:t>+ new utterance</a:t>
            </a:r>
          </a:p>
          <a:p>
            <a:pPr algn="l">
              <a:lnSpc>
                <a:spcPct val="108000"/>
              </a:lnSpc>
              <a:spcBef>
                <a:spcPts val="0"/>
              </a:spcBef>
              <a:spcAft>
                <a:spcPts val="200"/>
              </a:spcAft>
              <a:defRPr lang="en-US" sz="1610" b="0">
                <a:solidFill>
                  <a:srgbClr val="607487"/>
                </a:solidFill>
                <a:latin typeface="Segoe UI"/>
              </a:defRPr>
            </a:pPr>
          </a:p>
          <a:p>
            <a:pPr algn="l">
              <a:lnSpc>
                <a:spcPct val="108000"/>
              </a:lnSpc>
              <a:spcBef>
                <a:spcPts val="0"/>
              </a:spcBef>
              <a:spcAft>
                <a:spcPts val="200"/>
              </a:spcAft>
              <a:defRPr lang="en-US" sz="1610" b="0">
                <a:solidFill>
                  <a:srgbClr val="607487"/>
                </a:solidFill>
                <a:latin typeface="Segoe UI"/>
              </a:defRPr>
            </a:pPr>
            <a:r>
              <a:t>→ update commands</a:t>
            </a:r>
          </a:p>
        </p:txBody>
      </p:sp>
      <p:sp>
        <p:nvSpPr>
          <p:cNvPr id="24" name="TextBox 23"/>
          <p:cNvSpPr txBox="1"/>
          <p:nvPr/>
        </p:nvSpPr>
        <p:spPr>
          <a:xfrm>
            <a:off x="621792" y="5833872"/>
            <a:ext cx="10881360" cy="402336"/>
          </a:xfrm>
          <a:prstGeom prst="rect">
            <a:avLst/>
          </a:prstGeom>
          <a:noFill/>
        </p:spPr>
        <p:txBody>
          <a:bodyPr wrap="square" lIns="0" rIns="0" tIns="0" bIns="0" anchor="t">
            <a:spAutoFit/>
          </a:bodyPr>
          <a:lstStyle/>
          <a:p>
            <a:pPr algn="l">
              <a:lnSpc>
                <a:spcPct val="108000"/>
              </a:lnSpc>
              <a:spcBef>
                <a:spcPts val="0"/>
              </a:spcBef>
              <a:spcAft>
                <a:spcPts val="400"/>
              </a:spcAft>
              <a:defRPr lang="en-US" sz="1700" b="1">
                <a:solidFill>
                  <a:srgbClr val="1F344B"/>
                </a:solidFill>
                <a:latin typeface="Segoe UI"/>
              </a:defRPr>
            </a:pPr>
            <a:r>
              <a:t>Memory uses reference state; Extraction errors must be measured separately.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08 / EXTRACTION IN PRACTICE</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Model outputs a command. Code updates state.</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An actual generator example: a wish to buy is stored in its own channel.</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6600139"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09 / 15</a:t>
            </a:r>
          </a:p>
        </p:txBody>
      </p:sp>
      <p:sp>
        <p:nvSpPr>
          <p:cNvPr id="9" name="Rounded Rectangle 8"/>
          <p:cNvSpPr/>
          <p:nvPr/>
        </p:nvSpPr>
        <p:spPr>
          <a:xfrm>
            <a:off x="594360" y="2194560"/>
            <a:ext cx="5102352" cy="1069848"/>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395728"/>
            <a:ext cx="4599432"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NEW USER UTTERANCE</a:t>
            </a:r>
          </a:p>
        </p:txBody>
      </p:sp>
      <p:sp>
        <p:nvSpPr>
          <p:cNvPr id="11" name="TextBox 10"/>
          <p:cNvSpPr txBox="1"/>
          <p:nvPr/>
        </p:nvSpPr>
        <p:spPr>
          <a:xfrm>
            <a:off x="841248" y="2752344"/>
            <a:ext cx="4599432" cy="365760"/>
          </a:xfrm>
          <a:prstGeom prst="rect">
            <a:avLst/>
          </a:prstGeom>
          <a:noFill/>
        </p:spPr>
        <p:txBody>
          <a:bodyPr wrap="square" lIns="0" rIns="0" tIns="0" bIns="0" anchor="t">
            <a:spAutoFit/>
          </a:bodyPr>
          <a:lstStyle/>
          <a:p>
            <a:pPr algn="l">
              <a:lnSpc>
                <a:spcPct val="108000"/>
              </a:lnSpc>
              <a:spcBef>
                <a:spcPts val="0"/>
              </a:spcBef>
              <a:spcAft>
                <a:spcPts val="400"/>
              </a:spcAft>
              <a:defRPr lang="en-US" sz="2400" b="1">
                <a:solidFill>
                  <a:srgbClr val="122337"/>
                </a:solidFill>
                <a:latin typeface="Segoe UI"/>
              </a:defRPr>
            </a:pPr>
            <a:r>
              <a:t>I hope to buy a book.</a:t>
            </a:r>
          </a:p>
        </p:txBody>
      </p:sp>
      <p:sp>
        <p:nvSpPr>
          <p:cNvPr id="12" name="Right Arrow 11"/>
          <p:cNvSpPr/>
          <p:nvPr/>
        </p:nvSpPr>
        <p:spPr>
          <a:xfrm>
            <a:off x="5879592" y="2679192"/>
            <a:ext cx="420624" cy="173736"/>
          </a:xfrm>
          <a:prstGeom prst="rightArrow">
            <a:avLst/>
          </a:prstGeom>
          <a:solidFill>
            <a:srgbClr val="6074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10528" y="2194560"/>
            <a:ext cx="5084064" cy="1069848"/>
          </a:xfrm>
          <a:prstGeom prst="roundRect">
            <a:avLst>
              <a:gd name="adj" fmla="val 12000"/>
            </a:avLst>
          </a:prstGeom>
          <a:solidFill>
            <a:srgbClr val="E2F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57416" y="2395728"/>
            <a:ext cx="4590288"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MEANING OF THE UPDATE</a:t>
            </a:r>
          </a:p>
        </p:txBody>
      </p:sp>
      <p:sp>
        <p:nvSpPr>
          <p:cNvPr id="15" name="TextBox 14"/>
          <p:cNvSpPr txBox="1"/>
          <p:nvPr/>
        </p:nvSpPr>
        <p:spPr>
          <a:xfrm>
            <a:off x="6757416" y="2761488"/>
            <a:ext cx="4590288" cy="338328"/>
          </a:xfrm>
          <a:prstGeom prst="rect">
            <a:avLst/>
          </a:prstGeom>
          <a:noFill/>
        </p:spPr>
        <p:txBody>
          <a:bodyPr wrap="square" lIns="0" rIns="0" tIns="0" bIns="0" anchor="t">
            <a:spAutoFit/>
          </a:bodyPr>
          <a:lstStyle/>
          <a:p>
            <a:pPr algn="l">
              <a:lnSpc>
                <a:spcPct val="108000"/>
              </a:lnSpc>
              <a:spcBef>
                <a:spcPts val="0"/>
              </a:spcBef>
              <a:spcAft>
                <a:spcPts val="400"/>
              </a:spcAft>
              <a:defRPr lang="en-US" sz="2050" b="1">
                <a:solidFill>
                  <a:srgbClr val="122337"/>
                </a:solidFill>
                <a:latin typeface="Segoe UI"/>
              </a:defRPr>
            </a:pPr>
            <a:r>
              <a:t>Add a desire to buy a book</a:t>
            </a:r>
          </a:p>
        </p:txBody>
      </p:sp>
      <p:sp>
        <p:nvSpPr>
          <p:cNvPr id="16" name="Rounded Rectangle 15"/>
          <p:cNvSpPr/>
          <p:nvPr/>
        </p:nvSpPr>
        <p:spPr>
          <a:xfrm>
            <a:off x="594360" y="3602736"/>
            <a:ext cx="11000232" cy="1060704"/>
          </a:xfrm>
          <a:prstGeom prst="roundRect">
            <a:avLst>
              <a:gd name="adj" fmla="val 12000"/>
            </a:avLst>
          </a:prstGeom>
          <a:solidFill>
            <a:srgbClr val="12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776472"/>
            <a:ext cx="10332720" cy="219456"/>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ASSISTANT TARGET</a:t>
            </a:r>
          </a:p>
        </p:txBody>
      </p:sp>
      <p:sp>
        <p:nvSpPr>
          <p:cNvPr id="18" name="TextBox 17"/>
          <p:cNvSpPr txBox="1"/>
          <p:nvPr/>
        </p:nvSpPr>
        <p:spPr>
          <a:xfrm>
            <a:off x="850392" y="4187952"/>
            <a:ext cx="10332720" cy="310896"/>
          </a:xfrm>
          <a:prstGeom prst="rect">
            <a:avLst/>
          </a:prstGeom>
          <a:noFill/>
        </p:spPr>
        <p:txBody>
          <a:bodyPr wrap="square" lIns="0" rIns="0" tIns="0" bIns="0" anchor="t">
            <a:spAutoFit/>
          </a:bodyPr>
          <a:lstStyle/>
          <a:p>
            <a:pPr algn="l">
              <a:lnSpc>
                <a:spcPct val="108000"/>
              </a:lnSpc>
              <a:spcBef>
                <a:spcPts val="0"/>
              </a:spcBef>
              <a:spcAft>
                <a:spcPts val="400"/>
              </a:spcAft>
              <a:defRPr lang="en-US" sz="1920" b="0">
                <a:solidFill>
                  <a:srgbClr val="FFFFFF"/>
                </a:solidFill>
                <a:latin typeface="Consolas"/>
              </a:defRPr>
            </a:pPr>
            <a:r>
              <a:t>SET user | bought | desired | positive | a book</a:t>
            </a:r>
          </a:p>
        </p:txBody>
      </p:sp>
      <p:sp>
        <p:nvSpPr>
          <p:cNvPr id="19" name="TextBox 18"/>
          <p:cNvSpPr txBox="1"/>
          <p:nvPr/>
        </p:nvSpPr>
        <p:spPr>
          <a:xfrm>
            <a:off x="621792" y="5056632"/>
            <a:ext cx="3447288" cy="265176"/>
          </a:xfrm>
          <a:prstGeom prst="rect">
            <a:avLst/>
          </a:prstGeom>
          <a:noFill/>
        </p:spPr>
        <p:txBody>
          <a:bodyPr wrap="square" lIns="0" rIns="0" tIns="0" bIns="0" anchor="t">
            <a:spAutoFit/>
          </a:bodyPr>
          <a:lstStyle/>
          <a:p>
            <a:pPr algn="l">
              <a:lnSpc>
                <a:spcPct val="108000"/>
              </a:lnSpc>
              <a:spcBef>
                <a:spcPts val="0"/>
              </a:spcBef>
              <a:spcAft>
                <a:spcPts val="200"/>
              </a:spcAft>
              <a:defRPr lang="en-US" sz="1400" b="1">
                <a:solidFill>
                  <a:srgbClr val="1F344B"/>
                </a:solidFill>
                <a:latin typeface="Segoe UI"/>
              </a:defRPr>
            </a:pPr>
            <a:r>
              <a:t>SET / REMOVE</a:t>
            </a:r>
          </a:p>
        </p:txBody>
      </p:sp>
      <p:sp>
        <p:nvSpPr>
          <p:cNvPr id="20" name="Rectangle 19"/>
          <p:cNvSpPr/>
          <p:nvPr/>
        </p:nvSpPr>
        <p:spPr>
          <a:xfrm>
            <a:off x="621792" y="5458968"/>
            <a:ext cx="411480" cy="36576"/>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5632704"/>
            <a:ext cx="3374136" cy="512064"/>
          </a:xfrm>
          <a:prstGeom prst="rect">
            <a:avLst/>
          </a:prstGeom>
          <a:noFill/>
        </p:spPr>
        <p:txBody>
          <a:bodyPr wrap="square" lIns="0" rIns="0" tIns="0" bIns="0" anchor="t">
            <a:spAutoFit/>
          </a:bodyPr>
          <a:lstStyle/>
          <a:p>
            <a:pPr algn="l">
              <a:lnSpc>
                <a:spcPct val="108000"/>
              </a:lnSpc>
              <a:spcBef>
                <a:spcPts val="0"/>
              </a:spcBef>
              <a:spcAft>
                <a:spcPts val="200"/>
              </a:spcAft>
              <a:defRPr lang="en-US" sz="1450" b="0">
                <a:solidFill>
                  <a:srgbClr val="607487"/>
                </a:solidFill>
                <a:latin typeface="Segoe UI"/>
              </a:defRPr>
            </a:pPr>
            <a:r>
              <a:t>add, replace or retract a fact</a:t>
            </a:r>
          </a:p>
        </p:txBody>
      </p:sp>
      <p:sp>
        <p:nvSpPr>
          <p:cNvPr id="22" name="TextBox 21"/>
          <p:cNvSpPr txBox="1"/>
          <p:nvPr/>
        </p:nvSpPr>
        <p:spPr>
          <a:xfrm>
            <a:off x="4389120" y="5056632"/>
            <a:ext cx="3447288" cy="265176"/>
          </a:xfrm>
          <a:prstGeom prst="rect">
            <a:avLst/>
          </a:prstGeom>
          <a:noFill/>
        </p:spPr>
        <p:txBody>
          <a:bodyPr wrap="square" lIns="0" rIns="0" tIns="0" bIns="0" anchor="t">
            <a:spAutoFit/>
          </a:bodyPr>
          <a:lstStyle/>
          <a:p>
            <a:pPr algn="l">
              <a:lnSpc>
                <a:spcPct val="108000"/>
              </a:lnSpc>
              <a:spcBef>
                <a:spcPts val="0"/>
              </a:spcBef>
              <a:spcAft>
                <a:spcPts val="200"/>
              </a:spcAft>
              <a:defRPr lang="en-US" sz="1400" b="1">
                <a:solidFill>
                  <a:srgbClr val="1F344B"/>
                </a:solidFill>
                <a:latin typeface="Segoe UI"/>
              </a:defRPr>
            </a:pPr>
            <a:r>
              <a:t>EVENT / MINED / QUOTE</a:t>
            </a:r>
          </a:p>
        </p:txBody>
      </p:sp>
      <p:sp>
        <p:nvSpPr>
          <p:cNvPr id="23" name="Rectangle 22"/>
          <p:cNvSpPr/>
          <p:nvPr/>
        </p:nvSpPr>
        <p:spPr>
          <a:xfrm>
            <a:off x="4389120" y="5458968"/>
            <a:ext cx="411480" cy="36576"/>
          </a:xfrm>
          <a:prstGeom prst="rect">
            <a:avLst/>
          </a:prstGeom>
          <a:solidFill>
            <a:srgbClr val="97C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89120" y="5632704"/>
            <a:ext cx="3374136" cy="512064"/>
          </a:xfrm>
          <a:prstGeom prst="rect">
            <a:avLst/>
          </a:prstGeom>
          <a:noFill/>
        </p:spPr>
        <p:txBody>
          <a:bodyPr wrap="square" lIns="0" rIns="0" tIns="0" bIns="0" anchor="t">
            <a:spAutoFit/>
          </a:bodyPr>
          <a:lstStyle/>
          <a:p>
            <a:pPr algn="l">
              <a:lnSpc>
                <a:spcPct val="108000"/>
              </a:lnSpc>
              <a:spcBef>
                <a:spcPts val="0"/>
              </a:spcBef>
              <a:spcAft>
                <a:spcPts val="200"/>
              </a:spcAft>
              <a:defRPr lang="en-US" sz="1450" b="0">
                <a:solidFill>
                  <a:srgbClr val="607487"/>
                </a:solidFill>
                <a:latin typeface="Segoe UI"/>
              </a:defRPr>
            </a:pPr>
            <a:r>
              <a:t>events and source wording</a:t>
            </a:r>
          </a:p>
        </p:txBody>
      </p:sp>
      <p:sp>
        <p:nvSpPr>
          <p:cNvPr id="25" name="TextBox 24"/>
          <p:cNvSpPr txBox="1"/>
          <p:nvPr/>
        </p:nvSpPr>
        <p:spPr>
          <a:xfrm>
            <a:off x="8147304" y="5056632"/>
            <a:ext cx="3447288" cy="265176"/>
          </a:xfrm>
          <a:prstGeom prst="rect">
            <a:avLst/>
          </a:prstGeom>
          <a:noFill/>
        </p:spPr>
        <p:txBody>
          <a:bodyPr wrap="square" lIns="0" rIns="0" tIns="0" bIns="0" anchor="t">
            <a:spAutoFit/>
          </a:bodyPr>
          <a:lstStyle/>
          <a:p>
            <a:pPr algn="l">
              <a:lnSpc>
                <a:spcPct val="108000"/>
              </a:lnSpc>
              <a:spcBef>
                <a:spcPts val="0"/>
              </a:spcBef>
              <a:spcAft>
                <a:spcPts val="200"/>
              </a:spcAft>
              <a:defRPr lang="en-US" sz="1400" b="1">
                <a:solidFill>
                  <a:srgbClr val="1F344B"/>
                </a:solidFill>
                <a:latin typeface="Segoe UI"/>
              </a:defRPr>
            </a:pPr>
            <a:r>
              <a:t>NO_CHANGE</a:t>
            </a:r>
          </a:p>
        </p:txBody>
      </p:sp>
      <p:sp>
        <p:nvSpPr>
          <p:cNvPr id="26" name="Rectangle 25"/>
          <p:cNvSpPr/>
          <p:nvPr/>
        </p:nvSpPr>
        <p:spPr>
          <a:xfrm>
            <a:off x="8147304" y="5458968"/>
            <a:ext cx="411480" cy="36576"/>
          </a:xfrm>
          <a:prstGeom prst="rect">
            <a:avLst/>
          </a:prstGeom>
          <a:solidFill>
            <a:srgbClr val="FF9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47304" y="5632704"/>
            <a:ext cx="3374136" cy="512064"/>
          </a:xfrm>
          <a:prstGeom prst="rect">
            <a:avLst/>
          </a:prstGeom>
          <a:noFill/>
        </p:spPr>
        <p:txBody>
          <a:bodyPr wrap="square" lIns="0" rIns="0" tIns="0" bIns="0" anchor="t">
            <a:spAutoFit/>
          </a:bodyPr>
          <a:lstStyle/>
          <a:p>
            <a:pPr algn="l">
              <a:lnSpc>
                <a:spcPct val="108000"/>
              </a:lnSpc>
              <a:spcBef>
                <a:spcPts val="0"/>
              </a:spcBef>
              <a:spcAft>
                <a:spcPts val="200"/>
              </a:spcAft>
              <a:defRPr lang="en-US" sz="1450" b="0">
                <a:solidFill>
                  <a:srgbClr val="607487"/>
                </a:solidFill>
                <a:latin typeface="Segoe UI"/>
              </a:defRPr>
            </a:pPr>
            <a:r>
              <a:t>questions, thanks, no new facts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233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09 / TRAINING FORMAT</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FFFFFF"/>
                </a:solidFill>
                <a:latin typeface="Segoe UI"/>
              </a:defRPr>
            </a:pPr>
            <a:r>
              <a:t>ChatML defines roles. SFT trains the answer.</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D3DFEA"/>
                </a:solidFill>
                <a:latin typeface="Segoe UI"/>
              </a:defRPr>
            </a:pPr>
            <a:r>
              <a:t>JSON wraps the dataset; content contains plain text or Extraction commands.</a:t>
            </a:r>
          </a:p>
        </p:txBody>
      </p:sp>
      <p:sp>
        <p:nvSpPr>
          <p:cNvPr id="5" name="Rectangle 4"/>
          <p:cNvSpPr/>
          <p:nvPr/>
        </p:nvSpPr>
        <p:spPr>
          <a:xfrm>
            <a:off x="594360" y="6437376"/>
            <a:ext cx="11000232" cy="13716"/>
          </a:xfrm>
          <a:prstGeom prst="rect">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7333488"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D3DFEA"/>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D3DFEA"/>
                </a:solidFill>
                <a:latin typeface="Segoe UI"/>
              </a:defRPr>
            </a:pPr>
            <a:r>
              <a:t>10 / 15</a:t>
            </a:r>
          </a:p>
        </p:txBody>
      </p:sp>
      <p:sp>
        <p:nvSpPr>
          <p:cNvPr id="9" name="Rounded Rectangle 8"/>
          <p:cNvSpPr/>
          <p:nvPr/>
        </p:nvSpPr>
        <p:spPr>
          <a:xfrm>
            <a:off x="594360" y="2203704"/>
            <a:ext cx="7077456" cy="3639312"/>
          </a:xfrm>
          <a:prstGeom prst="roundRect">
            <a:avLst>
              <a:gd name="adj" fmla="val 12000"/>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505456"/>
            <a:ext cx="6537960" cy="2322576"/>
          </a:xfrm>
          <a:prstGeom prst="rect">
            <a:avLst/>
          </a:prstGeom>
          <a:noFill/>
        </p:spPr>
        <p:txBody>
          <a:bodyPr wrap="square" lIns="0" rIns="0" tIns="0" bIns="0" anchor="t">
            <a:spAutoFit/>
          </a:bodyPr>
          <a:lstStyle/>
          <a:p>
            <a:pPr algn="l">
              <a:lnSpc>
                <a:spcPct val="108000"/>
              </a:lnSpc>
              <a:spcBef>
                <a:spcPts val="0"/>
              </a:spcBef>
              <a:spcAft>
                <a:spcPts val="400"/>
              </a:spcAft>
              <a:defRPr lang="en-US" sz="1900" b="0">
                <a:solidFill>
                  <a:srgbClr val="D3DFEA"/>
                </a:solidFill>
                <a:latin typeface="Consolas"/>
              </a:defRPr>
            </a:pPr>
            <a:r>
              <a:t>&lt;|im_start|&gt;system</a:t>
            </a:r>
          </a:p>
          <a:p>
            <a:pPr algn="l">
              <a:lnSpc>
                <a:spcPct val="108000"/>
              </a:lnSpc>
              <a:spcBef>
                <a:spcPts val="0"/>
              </a:spcBef>
              <a:spcAft>
                <a:spcPts val="400"/>
              </a:spcAft>
              <a:defRPr lang="en-US" sz="1900" b="0">
                <a:solidFill>
                  <a:srgbClr val="D3DFEA"/>
                </a:solidFill>
                <a:latin typeface="Consolas"/>
              </a:defRPr>
            </a:pPr>
            <a:r>
              <a:t>[task instruction]&lt;|im_end|&gt;</a:t>
            </a:r>
          </a:p>
          <a:p>
            <a:pPr algn="l">
              <a:lnSpc>
                <a:spcPct val="108000"/>
              </a:lnSpc>
              <a:spcBef>
                <a:spcPts val="0"/>
              </a:spcBef>
              <a:spcAft>
                <a:spcPts val="400"/>
              </a:spcAft>
              <a:defRPr lang="en-US" sz="1900" b="0">
                <a:solidFill>
                  <a:srgbClr val="D3DFEA"/>
                </a:solidFill>
                <a:latin typeface="Consolas"/>
              </a:defRPr>
            </a:pPr>
            <a:r>
              <a:t>&lt;|im_start|&gt;user</a:t>
            </a:r>
          </a:p>
          <a:p>
            <a:pPr algn="l">
              <a:lnSpc>
                <a:spcPct val="108000"/>
              </a:lnSpc>
              <a:spcBef>
                <a:spcPts val="0"/>
              </a:spcBef>
              <a:spcAft>
                <a:spcPts val="400"/>
              </a:spcAft>
              <a:defRPr lang="en-US" sz="1900" b="0">
                <a:solidFill>
                  <a:srgbClr val="D3DFEA"/>
                </a:solidFill>
                <a:latin typeface="Consolas"/>
              </a:defRPr>
            </a:pPr>
            <a:r>
              <a:t>[context + new utterance]&lt;|im_end|&gt;</a:t>
            </a:r>
          </a:p>
          <a:p>
            <a:pPr algn="l">
              <a:lnSpc>
                <a:spcPct val="108000"/>
              </a:lnSpc>
              <a:spcBef>
                <a:spcPts val="0"/>
              </a:spcBef>
              <a:spcAft>
                <a:spcPts val="400"/>
              </a:spcAft>
              <a:defRPr lang="en-US" sz="1900" b="0">
                <a:solidFill>
                  <a:srgbClr val="D3DFEA"/>
                </a:solidFill>
                <a:latin typeface="Consolas"/>
              </a:defRPr>
            </a:pPr>
            <a:r>
              <a:t>&lt;|im_start|&gt;assistant</a:t>
            </a:r>
          </a:p>
        </p:txBody>
      </p:sp>
      <p:sp>
        <p:nvSpPr>
          <p:cNvPr id="11" name="Rounded Rectangle 10"/>
          <p:cNvSpPr/>
          <p:nvPr/>
        </p:nvSpPr>
        <p:spPr>
          <a:xfrm>
            <a:off x="822960" y="4946904"/>
            <a:ext cx="6620256" cy="557784"/>
          </a:xfrm>
          <a:prstGeom prst="roundRect">
            <a:avLst>
              <a:gd name="adj" fmla="val 12000"/>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5102352"/>
            <a:ext cx="6263640" cy="292608"/>
          </a:xfrm>
          <a:prstGeom prst="rect">
            <a:avLst/>
          </a:prstGeom>
          <a:noFill/>
        </p:spPr>
        <p:txBody>
          <a:bodyPr wrap="square" lIns="0" rIns="0" tIns="0" bIns="0" anchor="t">
            <a:spAutoFit/>
          </a:bodyPr>
          <a:lstStyle/>
          <a:p>
            <a:pPr algn="l">
              <a:lnSpc>
                <a:spcPct val="108000"/>
              </a:lnSpc>
              <a:spcBef>
                <a:spcPts val="0"/>
              </a:spcBef>
              <a:spcAft>
                <a:spcPts val="400"/>
              </a:spcAft>
              <a:defRPr lang="en-US" sz="2000" b="1">
                <a:solidFill>
                  <a:srgbClr val="122337"/>
                </a:solidFill>
                <a:latin typeface="Consolas"/>
              </a:defRPr>
            </a:pPr>
            <a:r>
              <a:t>[target answer]&lt;|im_end|&gt;</a:t>
            </a:r>
          </a:p>
        </p:txBody>
      </p:sp>
      <p:sp>
        <p:nvSpPr>
          <p:cNvPr id="13" name="TextBox 12"/>
          <p:cNvSpPr txBox="1"/>
          <p:nvPr/>
        </p:nvSpPr>
        <p:spPr>
          <a:xfrm>
            <a:off x="8165592" y="2532888"/>
            <a:ext cx="3099816" cy="265176"/>
          </a:xfrm>
          <a:prstGeom prst="rect">
            <a:avLst/>
          </a:prstGeom>
          <a:noFill/>
        </p:spPr>
        <p:txBody>
          <a:bodyPr wrap="square" lIns="0" rIns="0" tIns="0" bIns="0" anchor="t">
            <a:spAutoFit/>
          </a:bodyPr>
          <a:lstStyle/>
          <a:p>
            <a:pPr algn="l">
              <a:lnSpc>
                <a:spcPct val="108000"/>
              </a:lnSpc>
              <a:spcBef>
                <a:spcPts val="0"/>
              </a:spcBef>
              <a:spcAft>
                <a:spcPts val="200"/>
              </a:spcAft>
              <a:defRPr lang="en-US" sz="1200" b="1">
                <a:solidFill>
                  <a:srgbClr val="97CDF8"/>
                </a:solidFill>
                <a:latin typeface="Segoe UI"/>
              </a:defRPr>
            </a:pPr>
            <a:r>
              <a:t>CONTEXT</a:t>
            </a:r>
          </a:p>
        </p:txBody>
      </p:sp>
      <p:sp>
        <p:nvSpPr>
          <p:cNvPr id="14" name="TextBox 13"/>
          <p:cNvSpPr txBox="1"/>
          <p:nvPr/>
        </p:nvSpPr>
        <p:spPr>
          <a:xfrm>
            <a:off x="8165592" y="3008376"/>
            <a:ext cx="3090672" cy="804672"/>
          </a:xfrm>
          <a:prstGeom prst="rect">
            <a:avLst/>
          </a:prstGeom>
          <a:noFill/>
        </p:spPr>
        <p:txBody>
          <a:bodyPr wrap="square" lIns="0" rIns="0" tIns="0" bIns="0" anchor="t">
            <a:spAutoFit/>
          </a:bodyPr>
          <a:lstStyle/>
          <a:p>
            <a:pPr algn="l">
              <a:lnSpc>
                <a:spcPct val="108000"/>
              </a:lnSpc>
              <a:spcBef>
                <a:spcPts val="0"/>
              </a:spcBef>
              <a:spcAft>
                <a:spcPts val="400"/>
              </a:spcAft>
              <a:defRPr lang="en-US" sz="2000" b="0">
                <a:solidFill>
                  <a:srgbClr val="FFFFFF"/>
                </a:solidFill>
                <a:latin typeface="Segoe UI"/>
              </a:defRPr>
            </a:pPr>
            <a:r>
              <a:t>Read by the model.</a:t>
            </a:r>
          </a:p>
          <a:p>
            <a:pPr algn="l">
              <a:lnSpc>
                <a:spcPct val="108000"/>
              </a:lnSpc>
              <a:spcBef>
                <a:spcPts val="0"/>
              </a:spcBef>
              <a:spcAft>
                <a:spcPts val="400"/>
              </a:spcAft>
              <a:defRPr lang="en-US" sz="2000" b="0">
                <a:solidFill>
                  <a:srgbClr val="FFFFFF"/>
                </a:solidFill>
                <a:latin typeface="Segoe UI"/>
              </a:defRPr>
            </a:pPr>
            <a:r>
              <a:t>Excluded from loss.</a:t>
            </a:r>
          </a:p>
        </p:txBody>
      </p:sp>
      <p:sp>
        <p:nvSpPr>
          <p:cNvPr id="15" name="TextBox 14"/>
          <p:cNvSpPr txBox="1"/>
          <p:nvPr/>
        </p:nvSpPr>
        <p:spPr>
          <a:xfrm>
            <a:off x="8165592" y="4325112"/>
            <a:ext cx="3099816" cy="265176"/>
          </a:xfrm>
          <a:prstGeom prst="rect">
            <a:avLst/>
          </a:prstGeom>
          <a:noFill/>
        </p:spPr>
        <p:txBody>
          <a:bodyPr wrap="square" lIns="0" rIns="0" tIns="0" bIns="0" anchor="t">
            <a:spAutoFit/>
          </a:bodyPr>
          <a:lstStyle/>
          <a:p>
            <a:pPr algn="l">
              <a:lnSpc>
                <a:spcPct val="108000"/>
              </a:lnSpc>
              <a:spcBef>
                <a:spcPts val="0"/>
              </a:spcBef>
              <a:spcAft>
                <a:spcPts val="200"/>
              </a:spcAft>
              <a:defRPr lang="en-US" sz="1200" b="1">
                <a:solidFill>
                  <a:srgbClr val="45D6AF"/>
                </a:solidFill>
                <a:latin typeface="Segoe UI"/>
              </a:defRPr>
            </a:pPr>
            <a:r>
              <a:t>ANSWER</a:t>
            </a:r>
          </a:p>
        </p:txBody>
      </p:sp>
      <p:sp>
        <p:nvSpPr>
          <p:cNvPr id="16" name="TextBox 15"/>
          <p:cNvSpPr txBox="1"/>
          <p:nvPr/>
        </p:nvSpPr>
        <p:spPr>
          <a:xfrm>
            <a:off x="8165592" y="4809744"/>
            <a:ext cx="3090672" cy="804672"/>
          </a:xfrm>
          <a:prstGeom prst="rect">
            <a:avLst/>
          </a:prstGeom>
          <a:noFill/>
        </p:spPr>
        <p:txBody>
          <a:bodyPr wrap="square" lIns="0" rIns="0" tIns="0" bIns="0" anchor="t">
            <a:spAutoFit/>
          </a:bodyPr>
          <a:lstStyle/>
          <a:p>
            <a:pPr algn="l">
              <a:lnSpc>
                <a:spcPct val="108000"/>
              </a:lnSpc>
              <a:spcBef>
                <a:spcPts val="0"/>
              </a:spcBef>
              <a:spcAft>
                <a:spcPts val="400"/>
              </a:spcAft>
              <a:defRPr lang="en-US" sz="2000" b="0">
                <a:solidFill>
                  <a:srgbClr val="FFFFFF"/>
                </a:solidFill>
                <a:latin typeface="Segoe UI"/>
              </a:defRPr>
            </a:pPr>
            <a:r>
              <a:t>Only this segment</a:t>
            </a:r>
          </a:p>
          <a:p>
            <a:pPr algn="l">
              <a:lnSpc>
                <a:spcPct val="108000"/>
              </a:lnSpc>
              <a:spcBef>
                <a:spcPts val="0"/>
              </a:spcBef>
              <a:spcAft>
                <a:spcPts val="400"/>
              </a:spcAft>
              <a:defRPr lang="en-US" sz="2000" b="0">
                <a:solidFill>
                  <a:srgbClr val="FFFFFF"/>
                </a:solidFill>
                <a:latin typeface="Segoe UI"/>
              </a:defRPr>
            </a:pPr>
            <a:r>
              <a:t>contributes to SFT loss.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10 / GENERATING A DATASET</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Chat dataset: settings determine volume.</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Pipeline → Chat dataset · /chat-dataset · default UI settings</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8066836"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11 / 15</a:t>
            </a:r>
          </a:p>
        </p:txBody>
      </p:sp>
      <p:sp>
        <p:nvSpPr>
          <p:cNvPr id="9" name="Rounded Rectangle 8"/>
          <p:cNvSpPr/>
          <p:nvPr/>
        </p:nvSpPr>
        <p:spPr>
          <a:xfrm>
            <a:off x="594360" y="2121408"/>
            <a:ext cx="6510528" cy="758952"/>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240279"/>
            <a:ext cx="448056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300" b="0">
                <a:solidFill>
                  <a:srgbClr val="607487"/>
                </a:solidFill>
                <a:latin typeface="Segoe UI"/>
              </a:defRPr>
            </a:pPr>
            <a:r>
              <a:t>Training / Validation / Test</a:t>
            </a:r>
          </a:p>
        </p:txBody>
      </p:sp>
      <p:sp>
        <p:nvSpPr>
          <p:cNvPr id="11" name="TextBox 10"/>
          <p:cNvSpPr txBox="1"/>
          <p:nvPr/>
        </p:nvSpPr>
        <p:spPr>
          <a:xfrm>
            <a:off x="804672" y="2542032"/>
            <a:ext cx="5056632"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240" b="0">
                <a:solidFill>
                  <a:srgbClr val="607487"/>
                </a:solidFill>
                <a:latin typeface="Segoe UI"/>
              </a:defRPr>
            </a:pPr>
            <a:r>
              <a:t>per task</a:t>
            </a:r>
          </a:p>
        </p:txBody>
      </p:sp>
      <p:sp>
        <p:nvSpPr>
          <p:cNvPr id="12" name="TextBox 11"/>
          <p:cNvSpPr txBox="1"/>
          <p:nvPr/>
        </p:nvSpPr>
        <p:spPr>
          <a:xfrm>
            <a:off x="4617720" y="2212848"/>
            <a:ext cx="2258568" cy="356616"/>
          </a:xfrm>
          <a:prstGeom prst="rect">
            <a:avLst/>
          </a:prstGeom>
          <a:noFill/>
        </p:spPr>
        <p:txBody>
          <a:bodyPr wrap="square" lIns="0" rIns="0" tIns="0" bIns="0" anchor="t">
            <a:spAutoFit/>
          </a:bodyPr>
          <a:lstStyle/>
          <a:p>
            <a:pPr algn="r">
              <a:lnSpc>
                <a:spcPct val="108000"/>
              </a:lnSpc>
              <a:spcBef>
                <a:spcPts val="0"/>
              </a:spcBef>
              <a:spcAft>
                <a:spcPts val="400"/>
              </a:spcAft>
              <a:defRPr lang="en-US" sz="2200" b="1">
                <a:solidFill>
                  <a:srgbClr val="122337"/>
                </a:solidFill>
                <a:latin typeface="Segoe UI"/>
              </a:defRPr>
            </a:pPr>
            <a:r>
              <a:t>200 / 20 / 20</a:t>
            </a:r>
          </a:p>
        </p:txBody>
      </p:sp>
      <p:sp>
        <p:nvSpPr>
          <p:cNvPr id="13" name="Rounded Rectangle 12"/>
          <p:cNvSpPr/>
          <p:nvPr/>
        </p:nvSpPr>
        <p:spPr>
          <a:xfrm>
            <a:off x="594360" y="2999232"/>
            <a:ext cx="6510528" cy="758952"/>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118103"/>
            <a:ext cx="448056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300" b="0">
                <a:solidFill>
                  <a:srgbClr val="607487"/>
                </a:solidFill>
                <a:latin typeface="Segoe UI"/>
              </a:defRPr>
            </a:pPr>
            <a:r>
              <a:t>Mined training dialogues</a:t>
            </a:r>
          </a:p>
        </p:txBody>
      </p:sp>
      <p:sp>
        <p:nvSpPr>
          <p:cNvPr id="15" name="TextBox 14"/>
          <p:cNvSpPr txBox="1"/>
          <p:nvPr/>
        </p:nvSpPr>
        <p:spPr>
          <a:xfrm>
            <a:off x="804672" y="3419856"/>
            <a:ext cx="5056632"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240" b="0">
                <a:solidFill>
                  <a:srgbClr val="607487"/>
                </a:solidFill>
                <a:latin typeface="Segoe UI"/>
              </a:defRPr>
            </a:pPr>
            <a:r>
              <a:t>three outcomes per predicate</a:t>
            </a:r>
          </a:p>
        </p:txBody>
      </p:sp>
      <p:sp>
        <p:nvSpPr>
          <p:cNvPr id="16" name="TextBox 15"/>
          <p:cNvSpPr txBox="1"/>
          <p:nvPr/>
        </p:nvSpPr>
        <p:spPr>
          <a:xfrm>
            <a:off x="4617720" y="3090672"/>
            <a:ext cx="2258568" cy="356616"/>
          </a:xfrm>
          <a:prstGeom prst="rect">
            <a:avLst/>
          </a:prstGeom>
          <a:noFill/>
        </p:spPr>
        <p:txBody>
          <a:bodyPr wrap="square" lIns="0" rIns="0" tIns="0" bIns="0" anchor="t">
            <a:spAutoFit/>
          </a:bodyPr>
          <a:lstStyle/>
          <a:p>
            <a:pPr algn="r">
              <a:lnSpc>
                <a:spcPct val="108000"/>
              </a:lnSpc>
              <a:spcBef>
                <a:spcPts val="0"/>
              </a:spcBef>
              <a:spcAft>
                <a:spcPts val="400"/>
              </a:spcAft>
              <a:defRPr lang="en-US" sz="2200" b="1">
                <a:solidFill>
                  <a:srgbClr val="122337"/>
                </a:solidFill>
                <a:latin typeface="Segoe UI"/>
              </a:defRPr>
            </a:pPr>
            <a:r>
              <a:t>0</a:t>
            </a:r>
          </a:p>
        </p:txBody>
      </p:sp>
      <p:sp>
        <p:nvSpPr>
          <p:cNvPr id="17" name="Rounded Rectangle 16"/>
          <p:cNvSpPr/>
          <p:nvPr/>
        </p:nvSpPr>
        <p:spPr>
          <a:xfrm>
            <a:off x="594360" y="3877056"/>
            <a:ext cx="6510528" cy="758952"/>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995928"/>
            <a:ext cx="448056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300" b="0">
                <a:solidFill>
                  <a:srgbClr val="607487"/>
                </a:solidFill>
                <a:latin typeface="Segoe UI"/>
              </a:defRPr>
            </a:pPr>
            <a:r>
              <a:t>Maximum example tokens</a:t>
            </a:r>
          </a:p>
        </p:txBody>
      </p:sp>
      <p:sp>
        <p:nvSpPr>
          <p:cNvPr id="19" name="TextBox 18"/>
          <p:cNvSpPr txBox="1"/>
          <p:nvPr/>
        </p:nvSpPr>
        <p:spPr>
          <a:xfrm>
            <a:off x="804672" y="4297680"/>
            <a:ext cx="5056632"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240" b="0">
                <a:solidFill>
                  <a:srgbClr val="607487"/>
                </a:solidFill>
                <a:latin typeface="Segoe UI"/>
              </a:defRPr>
            </a:pPr>
            <a:r>
              <a:t>the complete GPT-2 ChatML example</a:t>
            </a:r>
          </a:p>
        </p:txBody>
      </p:sp>
      <p:sp>
        <p:nvSpPr>
          <p:cNvPr id="20" name="TextBox 19"/>
          <p:cNvSpPr txBox="1"/>
          <p:nvPr/>
        </p:nvSpPr>
        <p:spPr>
          <a:xfrm>
            <a:off x="4617720" y="3968496"/>
            <a:ext cx="2258568" cy="356616"/>
          </a:xfrm>
          <a:prstGeom prst="rect">
            <a:avLst/>
          </a:prstGeom>
          <a:noFill/>
        </p:spPr>
        <p:txBody>
          <a:bodyPr wrap="square" lIns="0" rIns="0" tIns="0" bIns="0" anchor="t">
            <a:spAutoFit/>
          </a:bodyPr>
          <a:lstStyle/>
          <a:p>
            <a:pPr algn="r">
              <a:lnSpc>
                <a:spcPct val="108000"/>
              </a:lnSpc>
              <a:spcBef>
                <a:spcPts val="0"/>
              </a:spcBef>
              <a:spcAft>
                <a:spcPts val="400"/>
              </a:spcAft>
              <a:defRPr lang="en-US" sz="2200" b="1">
                <a:solidFill>
                  <a:srgbClr val="122337"/>
                </a:solidFill>
                <a:latin typeface="Segoe UI"/>
              </a:defRPr>
            </a:pPr>
            <a:r>
              <a:t>768</a:t>
            </a:r>
          </a:p>
        </p:txBody>
      </p:sp>
      <p:sp>
        <p:nvSpPr>
          <p:cNvPr id="21" name="Rounded Rectangle 20"/>
          <p:cNvSpPr/>
          <p:nvPr/>
        </p:nvSpPr>
        <p:spPr>
          <a:xfrm>
            <a:off x="594360" y="4754879"/>
            <a:ext cx="6510528" cy="758952"/>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4873751"/>
            <a:ext cx="448056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300" b="0">
                <a:solidFill>
                  <a:srgbClr val="607487"/>
                </a:solidFill>
                <a:latin typeface="Segoe UI"/>
              </a:defRPr>
            </a:pPr>
            <a:r>
              <a:t>Seed</a:t>
            </a:r>
          </a:p>
        </p:txBody>
      </p:sp>
      <p:sp>
        <p:nvSpPr>
          <p:cNvPr id="23" name="TextBox 22"/>
          <p:cNvSpPr txBox="1"/>
          <p:nvPr/>
        </p:nvSpPr>
        <p:spPr>
          <a:xfrm>
            <a:off x="804672" y="5175503"/>
            <a:ext cx="5056632"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240" b="0">
                <a:solidFill>
                  <a:srgbClr val="607487"/>
                </a:solidFill>
                <a:latin typeface="Segoe UI"/>
              </a:defRPr>
            </a:pPr>
            <a:r>
              <a:t>reproducible with the same resources</a:t>
            </a:r>
          </a:p>
        </p:txBody>
      </p:sp>
      <p:sp>
        <p:nvSpPr>
          <p:cNvPr id="24" name="TextBox 23"/>
          <p:cNvSpPr txBox="1"/>
          <p:nvPr/>
        </p:nvSpPr>
        <p:spPr>
          <a:xfrm>
            <a:off x="4617720" y="4846319"/>
            <a:ext cx="2258568" cy="356616"/>
          </a:xfrm>
          <a:prstGeom prst="rect">
            <a:avLst/>
          </a:prstGeom>
          <a:noFill/>
        </p:spPr>
        <p:txBody>
          <a:bodyPr wrap="square" lIns="0" rIns="0" tIns="0" bIns="0" anchor="t">
            <a:spAutoFit/>
          </a:bodyPr>
          <a:lstStyle/>
          <a:p>
            <a:pPr algn="r">
              <a:lnSpc>
                <a:spcPct val="108000"/>
              </a:lnSpc>
              <a:spcBef>
                <a:spcPts val="0"/>
              </a:spcBef>
              <a:spcAft>
                <a:spcPts val="400"/>
              </a:spcAft>
              <a:defRPr lang="en-US" sz="2200" b="1">
                <a:solidFill>
                  <a:srgbClr val="122337"/>
                </a:solidFill>
                <a:latin typeface="Segoe UI"/>
              </a:defRPr>
            </a:pPr>
            <a:r>
              <a:t>42</a:t>
            </a:r>
          </a:p>
        </p:txBody>
      </p:sp>
      <p:sp>
        <p:nvSpPr>
          <p:cNvPr id="25" name="Rounded Rectangle 24"/>
          <p:cNvSpPr/>
          <p:nvPr/>
        </p:nvSpPr>
        <p:spPr>
          <a:xfrm>
            <a:off x="7388352" y="2121408"/>
            <a:ext cx="4206240" cy="3392424"/>
          </a:xfrm>
          <a:prstGeom prst="roundRect">
            <a:avLst>
              <a:gd name="adj" fmla="val 12000"/>
            </a:avLst>
          </a:prstGeom>
          <a:solidFill>
            <a:srgbClr val="12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35240" y="2414016"/>
            <a:ext cx="3703320"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TRAINING QUOTA</a:t>
            </a:r>
          </a:p>
        </p:txBody>
      </p:sp>
      <p:sp>
        <p:nvSpPr>
          <p:cNvPr id="27" name="TextBox 26"/>
          <p:cNvSpPr txBox="1"/>
          <p:nvPr/>
        </p:nvSpPr>
        <p:spPr>
          <a:xfrm>
            <a:off x="7635240" y="2953512"/>
            <a:ext cx="3703320" cy="822960"/>
          </a:xfrm>
          <a:prstGeom prst="rect">
            <a:avLst/>
          </a:prstGeom>
          <a:noFill/>
        </p:spPr>
        <p:txBody>
          <a:bodyPr wrap="square" lIns="0" rIns="0" tIns="0" bIns="0" anchor="t">
            <a:spAutoFit/>
          </a:bodyPr>
          <a:lstStyle/>
          <a:p>
            <a:pPr algn="l">
              <a:lnSpc>
                <a:spcPct val="108000"/>
              </a:lnSpc>
              <a:spcBef>
                <a:spcPts val="0"/>
              </a:spcBef>
              <a:spcAft>
                <a:spcPts val="400"/>
              </a:spcAft>
              <a:defRPr lang="en-US" sz="4900" b="1">
                <a:solidFill>
                  <a:srgbClr val="FFFFFF"/>
                </a:solidFill>
                <a:latin typeface="Segoe UI"/>
              </a:defRPr>
            </a:pPr>
            <a:r>
              <a:t>15,093</a:t>
            </a:r>
          </a:p>
        </p:txBody>
      </p:sp>
      <p:sp>
        <p:nvSpPr>
          <p:cNvPr id="28" name="TextBox 27"/>
          <p:cNvSpPr txBox="1"/>
          <p:nvPr/>
        </p:nvSpPr>
        <p:spPr>
          <a:xfrm>
            <a:off x="7635240" y="3904487"/>
            <a:ext cx="3703320" cy="438912"/>
          </a:xfrm>
          <a:prstGeom prst="rect">
            <a:avLst/>
          </a:prstGeom>
          <a:noFill/>
        </p:spPr>
        <p:txBody>
          <a:bodyPr wrap="square" lIns="0" rIns="0" tIns="0" bIns="0" anchor="t">
            <a:spAutoFit/>
          </a:bodyPr>
          <a:lstStyle/>
          <a:p>
            <a:pPr algn="l">
              <a:lnSpc>
                <a:spcPct val="108000"/>
              </a:lnSpc>
              <a:spcBef>
                <a:spcPts val="0"/>
              </a:spcBef>
              <a:spcAft>
                <a:spcPts val="400"/>
              </a:spcAft>
              <a:defRPr lang="en-US" sz="2000" b="0">
                <a:solidFill>
                  <a:srgbClr val="D3DFEA"/>
                </a:solidFill>
                <a:latin typeface="Segoe UI"/>
              </a:defRPr>
            </a:pPr>
            <a:r>
              <a:t>15 × 200 + 3 × 4,031</a:t>
            </a:r>
          </a:p>
        </p:txBody>
      </p:sp>
      <p:sp>
        <p:nvSpPr>
          <p:cNvPr id="29" name="TextBox 28"/>
          <p:cNvSpPr txBox="1"/>
          <p:nvPr/>
        </p:nvSpPr>
        <p:spPr>
          <a:xfrm>
            <a:off x="7635240" y="4645152"/>
            <a:ext cx="3703320" cy="557784"/>
          </a:xfrm>
          <a:prstGeom prst="rect">
            <a:avLst/>
          </a:prstGeom>
          <a:noFill/>
        </p:spPr>
        <p:txBody>
          <a:bodyPr wrap="square" lIns="0" rIns="0" tIns="0" bIns="0" anchor="t">
            <a:spAutoFit/>
          </a:bodyPr>
          <a:lstStyle/>
          <a:p>
            <a:pPr algn="l">
              <a:lnSpc>
                <a:spcPct val="108000"/>
              </a:lnSpc>
              <a:spcBef>
                <a:spcPts val="0"/>
              </a:spcBef>
              <a:spcAft>
                <a:spcPts val="200"/>
              </a:spcAft>
              <a:defRPr lang="en-US" sz="1530" b="0">
                <a:solidFill>
                  <a:srgbClr val="D3DFEA"/>
                </a:solidFill>
                <a:latin typeface="Segoe UI"/>
              </a:defRPr>
            </a:pPr>
            <a:r>
              <a:t>episodes with the current inventory</a:t>
            </a:r>
          </a:p>
          <a:p>
            <a:pPr algn="l">
              <a:lnSpc>
                <a:spcPct val="108000"/>
              </a:lnSpc>
              <a:spcBef>
                <a:spcPts val="0"/>
              </a:spcBef>
              <a:spcAft>
                <a:spcPts val="200"/>
              </a:spcAft>
              <a:defRPr lang="en-US" sz="1530" b="0">
                <a:solidFill>
                  <a:srgbClr val="D3DFEA"/>
                </a:solidFill>
                <a:latin typeface="Segoe UI"/>
              </a:defRPr>
            </a:pPr>
            <a:r>
              <a:t>Validation / Test: 320 / 320</a:t>
            </a:r>
          </a:p>
        </p:txBody>
      </p:sp>
      <p:sp>
        <p:nvSpPr>
          <p:cNvPr id="30" name="TextBox 29"/>
          <p:cNvSpPr txBox="1"/>
          <p:nvPr/>
        </p:nvSpPr>
        <p:spPr>
          <a:xfrm>
            <a:off x="621792" y="5989320"/>
            <a:ext cx="10945368" cy="283464"/>
          </a:xfrm>
          <a:prstGeom prst="rect">
            <a:avLst/>
          </a:prstGeom>
          <a:noFill/>
        </p:spPr>
        <p:txBody>
          <a:bodyPr wrap="square" lIns="0" rIns="0" tIns="0" bIns="0" anchor="t">
            <a:spAutoFit/>
          </a:bodyPr>
          <a:lstStyle/>
          <a:p>
            <a:pPr algn="l">
              <a:lnSpc>
                <a:spcPct val="108000"/>
              </a:lnSpc>
              <a:spcBef>
                <a:spcPts val="0"/>
              </a:spcBef>
              <a:spcAft>
                <a:spcPts val="200"/>
              </a:spcAft>
              <a:defRPr lang="en-US" sz="1460" b="0">
                <a:solidFill>
                  <a:srgbClr val="607487"/>
                </a:solidFill>
                <a:latin typeface="Segoe UI"/>
              </a:defRPr>
            </a:pPr>
            <a:r>
              <a:t>Include metadata controls record fields; message content stays the same.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11 / GENERATED OUTPUTS</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Three datasets, plus audit reports.</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The UI saves artifacts/ui/jobs/&lt;ID&gt;/dataset/ and creates chat-dataset.zip.</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8800185"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12 / 15</a:t>
            </a:r>
          </a:p>
        </p:txBody>
      </p:sp>
      <p:sp>
        <p:nvSpPr>
          <p:cNvPr id="9" name="Rounded Rectangle 8"/>
          <p:cNvSpPr/>
          <p:nvPr/>
        </p:nvSpPr>
        <p:spPr>
          <a:xfrm>
            <a:off x="594360" y="2194560"/>
            <a:ext cx="5020056" cy="3575304"/>
          </a:xfrm>
          <a:prstGeom prst="roundRect">
            <a:avLst>
              <a:gd name="adj" fmla="val 12000"/>
            </a:avLst>
          </a:prstGeom>
          <a:solidFill>
            <a:srgbClr val="12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523744"/>
            <a:ext cx="4443984" cy="2807208"/>
          </a:xfrm>
          <a:prstGeom prst="rect">
            <a:avLst/>
          </a:prstGeom>
          <a:noFill/>
        </p:spPr>
        <p:txBody>
          <a:bodyPr wrap="square" lIns="0" rIns="0" tIns="0" bIns="0" anchor="t">
            <a:spAutoFit/>
          </a:bodyPr>
          <a:lstStyle/>
          <a:p>
            <a:pPr algn="l">
              <a:lnSpc>
                <a:spcPct val="108000"/>
              </a:lnSpc>
              <a:spcBef>
                <a:spcPts val="0"/>
              </a:spcBef>
              <a:spcAft>
                <a:spcPts val="400"/>
              </a:spcAft>
              <a:defRPr lang="en-US" sz="1800" b="0">
                <a:solidFill>
                  <a:srgbClr val="FFFFFF"/>
                </a:solidFill>
                <a:latin typeface="Consolas"/>
              </a:defRPr>
            </a:pPr>
            <a:r>
              <a:t>dataset/</a:t>
            </a:r>
          </a:p>
          <a:p>
            <a:pPr algn="l">
              <a:lnSpc>
                <a:spcPct val="108000"/>
              </a:lnSpc>
              <a:spcBef>
                <a:spcPts val="0"/>
              </a:spcBef>
              <a:spcAft>
                <a:spcPts val="400"/>
              </a:spcAft>
              <a:defRPr lang="en-US" sz="1800" b="0">
                <a:solidFill>
                  <a:srgbClr val="FFFFFF"/>
                </a:solidFill>
                <a:latin typeface="Consolas"/>
              </a:defRPr>
            </a:pPr>
            <a:r>
              <a:t>  memory/</a:t>
            </a:r>
          </a:p>
          <a:p>
            <a:pPr algn="l">
              <a:lnSpc>
                <a:spcPct val="108000"/>
              </a:lnSpc>
              <a:spcBef>
                <a:spcPts val="0"/>
              </a:spcBef>
              <a:spcAft>
                <a:spcPts val="400"/>
              </a:spcAft>
              <a:defRPr lang="en-US" sz="1800" b="0">
                <a:solidFill>
                  <a:srgbClr val="FFFFFF"/>
                </a:solidFill>
                <a:latin typeface="Consolas"/>
              </a:defRPr>
            </a:pPr>
            <a:r>
              <a:t>    train · validation · test.json</a:t>
            </a:r>
          </a:p>
          <a:p>
            <a:pPr algn="l">
              <a:lnSpc>
                <a:spcPct val="108000"/>
              </a:lnSpc>
              <a:spcBef>
                <a:spcPts val="0"/>
              </a:spcBef>
              <a:spcAft>
                <a:spcPts val="400"/>
              </a:spcAft>
              <a:defRPr lang="en-US" sz="1800" b="0">
                <a:solidFill>
                  <a:srgbClr val="FFFFFF"/>
                </a:solidFill>
                <a:latin typeface="Consolas"/>
              </a:defRPr>
            </a:pPr>
            <a:r>
              <a:t>  history/</a:t>
            </a:r>
          </a:p>
          <a:p>
            <a:pPr algn="l">
              <a:lnSpc>
                <a:spcPct val="108000"/>
              </a:lnSpc>
              <a:spcBef>
                <a:spcPts val="0"/>
              </a:spcBef>
              <a:spcAft>
                <a:spcPts val="400"/>
              </a:spcAft>
              <a:defRPr lang="en-US" sz="1800" b="0">
                <a:solidFill>
                  <a:srgbClr val="FFFFFF"/>
                </a:solidFill>
                <a:latin typeface="Consolas"/>
              </a:defRPr>
            </a:pPr>
            <a:r>
              <a:t>    train · validation · test.json</a:t>
            </a:r>
          </a:p>
          <a:p>
            <a:pPr algn="l">
              <a:lnSpc>
                <a:spcPct val="108000"/>
              </a:lnSpc>
              <a:spcBef>
                <a:spcPts val="0"/>
              </a:spcBef>
              <a:spcAft>
                <a:spcPts val="400"/>
              </a:spcAft>
              <a:defRPr lang="en-US" sz="1800" b="0">
                <a:solidFill>
                  <a:srgbClr val="FFFFFF"/>
                </a:solidFill>
                <a:latin typeface="Consolas"/>
              </a:defRPr>
            </a:pPr>
            <a:r>
              <a:t>  extraction/</a:t>
            </a:r>
          </a:p>
          <a:p>
            <a:pPr algn="l">
              <a:lnSpc>
                <a:spcPct val="108000"/>
              </a:lnSpc>
              <a:spcBef>
                <a:spcPts val="0"/>
              </a:spcBef>
              <a:spcAft>
                <a:spcPts val="400"/>
              </a:spcAft>
              <a:defRPr lang="en-US" sz="1800" b="0">
                <a:solidFill>
                  <a:srgbClr val="FFFFFF"/>
                </a:solidFill>
                <a:latin typeface="Consolas"/>
              </a:defRPr>
            </a:pPr>
            <a:r>
              <a:t>    train · validation · test.json</a:t>
            </a:r>
          </a:p>
        </p:txBody>
      </p:sp>
      <p:sp>
        <p:nvSpPr>
          <p:cNvPr id="11" name="TextBox 10"/>
          <p:cNvSpPr txBox="1"/>
          <p:nvPr/>
        </p:nvSpPr>
        <p:spPr>
          <a:xfrm>
            <a:off x="6089904" y="2276856"/>
            <a:ext cx="5230368" cy="320040"/>
          </a:xfrm>
          <a:prstGeom prst="rect">
            <a:avLst/>
          </a:prstGeom>
          <a:noFill/>
        </p:spPr>
        <p:txBody>
          <a:bodyPr wrap="square" lIns="0" rIns="0" tIns="0" bIns="0" anchor="t">
            <a:spAutoFit/>
          </a:bodyPr>
          <a:lstStyle/>
          <a:p>
            <a:pPr algn="l">
              <a:lnSpc>
                <a:spcPct val="108000"/>
              </a:lnSpc>
              <a:spcBef>
                <a:spcPts val="0"/>
              </a:spcBef>
              <a:spcAft>
                <a:spcPts val="400"/>
              </a:spcAft>
              <a:defRPr lang="en-US" sz="1800" b="1">
                <a:solidFill>
                  <a:srgbClr val="1F344B"/>
                </a:solidFill>
                <a:latin typeface="Segoe UI"/>
              </a:defRPr>
            </a:pPr>
            <a:r>
              <a:t>manifest.json</a:t>
            </a:r>
          </a:p>
        </p:txBody>
      </p:sp>
      <p:sp>
        <p:nvSpPr>
          <p:cNvPr id="12" name="TextBox 11"/>
          <p:cNvSpPr txBox="1"/>
          <p:nvPr/>
        </p:nvSpPr>
        <p:spPr>
          <a:xfrm>
            <a:off x="6089904" y="2670048"/>
            <a:ext cx="5230368" cy="310896"/>
          </a:xfrm>
          <a:prstGeom prst="rect">
            <a:avLst/>
          </a:prstGeom>
          <a:noFill/>
        </p:spPr>
        <p:txBody>
          <a:bodyPr wrap="square" lIns="0" rIns="0" tIns="0" bIns="0" anchor="t">
            <a:spAutoFit/>
          </a:bodyPr>
          <a:lstStyle/>
          <a:p>
            <a:pPr algn="l">
              <a:lnSpc>
                <a:spcPct val="108000"/>
              </a:lnSpc>
              <a:spcBef>
                <a:spcPts val="0"/>
              </a:spcBef>
              <a:spcAft>
                <a:spcPts val="200"/>
              </a:spcAft>
              <a:defRPr lang="en-US" sz="1500" b="0">
                <a:solidFill>
                  <a:srgbClr val="607487"/>
                </a:solidFill>
                <a:latin typeface="Segoe UI"/>
              </a:defRPr>
            </a:pPr>
            <a:r>
              <a:t>Settings, versions, quotas and resources</a:t>
            </a:r>
          </a:p>
        </p:txBody>
      </p:sp>
      <p:sp>
        <p:nvSpPr>
          <p:cNvPr id="13" name="TextBox 12"/>
          <p:cNvSpPr txBox="1"/>
          <p:nvPr/>
        </p:nvSpPr>
        <p:spPr>
          <a:xfrm>
            <a:off x="6089904" y="3172968"/>
            <a:ext cx="5230368" cy="320040"/>
          </a:xfrm>
          <a:prstGeom prst="rect">
            <a:avLst/>
          </a:prstGeom>
          <a:noFill/>
        </p:spPr>
        <p:txBody>
          <a:bodyPr wrap="square" lIns="0" rIns="0" tIns="0" bIns="0" anchor="t">
            <a:spAutoFit/>
          </a:bodyPr>
          <a:lstStyle/>
          <a:p>
            <a:pPr algn="l">
              <a:lnSpc>
                <a:spcPct val="108000"/>
              </a:lnSpc>
              <a:spcBef>
                <a:spcPts val="0"/>
              </a:spcBef>
              <a:spcAft>
                <a:spcPts val="400"/>
              </a:spcAft>
              <a:defRPr lang="en-US" sz="1800" b="1">
                <a:solidFill>
                  <a:srgbClr val="1F344B"/>
                </a:solidFill>
                <a:latin typeface="Segoe UI"/>
              </a:defRPr>
            </a:pPr>
            <a:r>
              <a:t>*.episodes.jsonl</a:t>
            </a:r>
          </a:p>
        </p:txBody>
      </p:sp>
      <p:sp>
        <p:nvSpPr>
          <p:cNvPr id="14" name="TextBox 13"/>
          <p:cNvSpPr txBox="1"/>
          <p:nvPr/>
        </p:nvSpPr>
        <p:spPr>
          <a:xfrm>
            <a:off x="6089904" y="3566160"/>
            <a:ext cx="5230368" cy="310896"/>
          </a:xfrm>
          <a:prstGeom prst="rect">
            <a:avLst/>
          </a:prstGeom>
          <a:noFill/>
        </p:spPr>
        <p:txBody>
          <a:bodyPr wrap="square" lIns="0" rIns="0" tIns="0" bIns="0" anchor="t">
            <a:spAutoFit/>
          </a:bodyPr>
          <a:lstStyle/>
          <a:p>
            <a:pPr algn="l">
              <a:lnSpc>
                <a:spcPct val="108000"/>
              </a:lnSpc>
              <a:spcBef>
                <a:spcPts val="0"/>
              </a:spcBef>
              <a:spcAft>
                <a:spcPts val="200"/>
              </a:spcAft>
              <a:defRPr lang="en-US" sz="1500" b="0">
                <a:solidFill>
                  <a:srgbClr val="607487"/>
                </a:solidFill>
                <a:latin typeface="Segoe UI"/>
              </a:defRPr>
            </a:pPr>
            <a:r>
              <a:t>Scenarios, transitions and answer evidence</a:t>
            </a:r>
          </a:p>
        </p:txBody>
      </p:sp>
      <p:sp>
        <p:nvSpPr>
          <p:cNvPr id="15" name="TextBox 14"/>
          <p:cNvSpPr txBox="1"/>
          <p:nvPr/>
        </p:nvSpPr>
        <p:spPr>
          <a:xfrm>
            <a:off x="6089904" y="4069080"/>
            <a:ext cx="5230368" cy="320040"/>
          </a:xfrm>
          <a:prstGeom prst="rect">
            <a:avLst/>
          </a:prstGeom>
          <a:noFill/>
        </p:spPr>
        <p:txBody>
          <a:bodyPr wrap="square" lIns="0" rIns="0" tIns="0" bIns="0" anchor="t">
            <a:spAutoFit/>
          </a:bodyPr>
          <a:lstStyle/>
          <a:p>
            <a:pPr algn="l">
              <a:lnSpc>
                <a:spcPct val="108000"/>
              </a:lnSpc>
              <a:spcBef>
                <a:spcPts val="0"/>
              </a:spcBef>
              <a:spcAft>
                <a:spcPts val="400"/>
              </a:spcAft>
              <a:defRPr lang="en-US" sz="1800" b="1">
                <a:solidFill>
                  <a:srgbClr val="1F344B"/>
                </a:solidFill>
                <a:latin typeface="Segoe UI"/>
              </a:defRPr>
            </a:pPr>
            <a:r>
              <a:t>mined-coverage / mined-review</a:t>
            </a:r>
          </a:p>
        </p:txBody>
      </p:sp>
      <p:sp>
        <p:nvSpPr>
          <p:cNvPr id="16" name="TextBox 15"/>
          <p:cNvSpPr txBox="1"/>
          <p:nvPr/>
        </p:nvSpPr>
        <p:spPr>
          <a:xfrm>
            <a:off x="6089904" y="4462272"/>
            <a:ext cx="5230368" cy="310896"/>
          </a:xfrm>
          <a:prstGeom prst="rect">
            <a:avLst/>
          </a:prstGeom>
          <a:noFill/>
        </p:spPr>
        <p:txBody>
          <a:bodyPr wrap="square" lIns="0" rIns="0" tIns="0" bIns="0" anchor="t">
            <a:spAutoFit/>
          </a:bodyPr>
          <a:lstStyle/>
          <a:p>
            <a:pPr algn="l">
              <a:lnSpc>
                <a:spcPct val="108000"/>
              </a:lnSpc>
              <a:spcBef>
                <a:spcPts val="0"/>
              </a:spcBef>
              <a:spcAft>
                <a:spcPts val="200"/>
              </a:spcAft>
              <a:defRPr lang="en-US" sz="1500" b="0">
                <a:solidFill>
                  <a:srgbClr val="607487"/>
                </a:solidFill>
                <a:latin typeface="Segoe UI"/>
              </a:defRPr>
            </a:pPr>
            <a:r>
              <a:t>Predicate coverage and analysis limits</a:t>
            </a:r>
          </a:p>
        </p:txBody>
      </p:sp>
      <p:sp>
        <p:nvSpPr>
          <p:cNvPr id="17" name="TextBox 16"/>
          <p:cNvSpPr txBox="1"/>
          <p:nvPr/>
        </p:nvSpPr>
        <p:spPr>
          <a:xfrm>
            <a:off x="6089904" y="4965192"/>
            <a:ext cx="5230368" cy="320040"/>
          </a:xfrm>
          <a:prstGeom prst="rect">
            <a:avLst/>
          </a:prstGeom>
          <a:noFill/>
        </p:spPr>
        <p:txBody>
          <a:bodyPr wrap="square" lIns="0" rIns="0" tIns="0" bIns="0" anchor="t">
            <a:spAutoFit/>
          </a:bodyPr>
          <a:lstStyle/>
          <a:p>
            <a:pPr algn="l">
              <a:lnSpc>
                <a:spcPct val="108000"/>
              </a:lnSpc>
              <a:spcBef>
                <a:spcPts val="0"/>
              </a:spcBef>
              <a:spcAft>
                <a:spcPts val="400"/>
              </a:spcAft>
              <a:defRPr lang="en-US" sz="1800" b="1">
                <a:solidFill>
                  <a:srgbClr val="1F344B"/>
                </a:solidFill>
                <a:latin typeface="Segoe UI"/>
              </a:defRPr>
            </a:pPr>
            <a:r>
              <a:t>token-lengths / length-rejections</a:t>
            </a:r>
          </a:p>
        </p:txBody>
      </p:sp>
      <p:sp>
        <p:nvSpPr>
          <p:cNvPr id="18" name="TextBox 17"/>
          <p:cNvSpPr txBox="1"/>
          <p:nvPr/>
        </p:nvSpPr>
        <p:spPr>
          <a:xfrm>
            <a:off x="6089904" y="5358383"/>
            <a:ext cx="5230368" cy="310896"/>
          </a:xfrm>
          <a:prstGeom prst="rect">
            <a:avLst/>
          </a:prstGeom>
          <a:noFill/>
        </p:spPr>
        <p:txBody>
          <a:bodyPr wrap="square" lIns="0" rIns="0" tIns="0" bIns="0" anchor="t">
            <a:spAutoFit/>
          </a:bodyPr>
          <a:lstStyle/>
          <a:p>
            <a:pPr algn="l">
              <a:lnSpc>
                <a:spcPct val="108000"/>
              </a:lnSpc>
              <a:spcBef>
                <a:spcPts val="0"/>
              </a:spcBef>
              <a:spcAft>
                <a:spcPts val="200"/>
              </a:spcAft>
              <a:defRPr lang="en-US" sz="1500" b="0">
                <a:solidFill>
                  <a:srgbClr val="607487"/>
                </a:solidFill>
                <a:latin typeface="Segoe UI"/>
              </a:defRPr>
            </a:pPr>
            <a:r>
              <a:t>Example lengths and rejection reasons</a:t>
            </a:r>
          </a:p>
        </p:txBody>
      </p:sp>
      <p:sp>
        <p:nvSpPr>
          <p:cNvPr id="19" name="TextBox 18"/>
          <p:cNvSpPr txBox="1"/>
          <p:nvPr/>
        </p:nvSpPr>
        <p:spPr>
          <a:xfrm>
            <a:off x="621792" y="5989320"/>
            <a:ext cx="10917936" cy="301752"/>
          </a:xfrm>
          <a:prstGeom prst="rect">
            <a:avLst/>
          </a:prstGeom>
          <a:noFill/>
        </p:spPr>
        <p:txBody>
          <a:bodyPr wrap="square" lIns="0" rIns="0" tIns="0" bIns="0" anchor="t">
            <a:spAutoFit/>
          </a:bodyPr>
          <a:lstStyle/>
          <a:p>
            <a:pPr algn="l">
              <a:lnSpc>
                <a:spcPct val="108000"/>
              </a:lnSpc>
              <a:spcBef>
                <a:spcPts val="0"/>
              </a:spcBef>
              <a:spcAft>
                <a:spcPts val="200"/>
              </a:spcAft>
              <a:defRPr lang="en-US" sz="1600" b="1">
                <a:solidFill>
                  <a:srgbClr val="1F344B"/>
                </a:solidFill>
                <a:latin typeface="Segoe UI"/>
              </a:defRPr>
            </a:pPr>
            <a:r>
              <a:t>Extraction can contain more rows than there are dialogues.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12 / QUALITY CHECKS</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Validate the data before training.</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Checks cover complete episodes and all three dataset views.</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9533534"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13 / 15</a:t>
            </a:r>
          </a:p>
        </p:txBody>
      </p:sp>
      <p:sp>
        <p:nvSpPr>
          <p:cNvPr id="9" name="Rounded Rectangle 8"/>
          <p:cNvSpPr/>
          <p:nvPr/>
        </p:nvSpPr>
        <p:spPr>
          <a:xfrm>
            <a:off x="594360" y="2203704"/>
            <a:ext cx="5340096" cy="1389888"/>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2432304"/>
            <a:ext cx="438912" cy="438912"/>
          </a:xfrm>
          <a:prstGeom prst="ellipse">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2505456"/>
            <a:ext cx="438912" cy="365759"/>
          </a:xfrm>
          <a:prstGeom prst="rect">
            <a:avLst/>
          </a:prstGeom>
          <a:noFill/>
        </p:spPr>
        <p:txBody>
          <a:bodyPr wrap="square" lIns="0" rIns="0" tIns="0" bIns="0" anchor="t">
            <a:spAutoFit/>
          </a:bodyPr>
          <a:lstStyle/>
          <a:p>
            <a:pPr algn="ctr">
              <a:lnSpc>
                <a:spcPct val="108000"/>
              </a:lnSpc>
              <a:spcBef>
                <a:spcPts val="0"/>
              </a:spcBef>
              <a:spcAft>
                <a:spcPts val="200"/>
              </a:spcAft>
              <a:defRPr lang="en-US" sz="1500" b="1">
                <a:solidFill>
                  <a:srgbClr val="122337"/>
                </a:solidFill>
                <a:latin typeface="Segoe UI"/>
              </a:defRPr>
            </a:pPr>
            <a:r>
              <a:t>01</a:t>
            </a:r>
          </a:p>
        </p:txBody>
      </p:sp>
      <p:sp>
        <p:nvSpPr>
          <p:cNvPr id="12" name="TextBox 11"/>
          <p:cNvSpPr txBox="1"/>
          <p:nvPr/>
        </p:nvSpPr>
        <p:spPr>
          <a:xfrm>
            <a:off x="1453895" y="2423160"/>
            <a:ext cx="4233672" cy="521207"/>
          </a:xfrm>
          <a:prstGeom prst="rect">
            <a:avLst/>
          </a:prstGeom>
          <a:noFill/>
        </p:spPr>
        <p:txBody>
          <a:bodyPr wrap="square" lIns="0" rIns="0" tIns="0" bIns="0" anchor="t">
            <a:spAutoFit/>
          </a:bodyPr>
          <a:lstStyle/>
          <a:p>
            <a:pPr algn="l">
              <a:lnSpc>
                <a:spcPct val="108000"/>
              </a:lnSpc>
              <a:spcBef>
                <a:spcPts val="0"/>
              </a:spcBef>
              <a:spcAft>
                <a:spcPts val="400"/>
              </a:spcAft>
              <a:defRPr lang="en-US" sz="1860" b="1">
                <a:solidFill>
                  <a:srgbClr val="122337"/>
                </a:solidFill>
                <a:latin typeface="Segoe UI"/>
              </a:defRPr>
            </a:pPr>
            <a:r>
              <a:t>Replay the state</a:t>
            </a:r>
          </a:p>
        </p:txBody>
      </p:sp>
      <p:sp>
        <p:nvSpPr>
          <p:cNvPr id="13" name="TextBox 12"/>
          <p:cNvSpPr txBox="1"/>
          <p:nvPr/>
        </p:nvSpPr>
        <p:spPr>
          <a:xfrm>
            <a:off x="1453895" y="3054096"/>
            <a:ext cx="4178808" cy="448056"/>
          </a:xfrm>
          <a:prstGeom prst="rect">
            <a:avLst/>
          </a:prstGeom>
          <a:noFill/>
        </p:spPr>
        <p:txBody>
          <a:bodyPr wrap="square" lIns="0" rIns="0" tIns="0" bIns="0" anchor="t">
            <a:spAutoFit/>
          </a:bodyPr>
          <a:lstStyle/>
          <a:p>
            <a:pPr algn="l">
              <a:lnSpc>
                <a:spcPct val="108000"/>
              </a:lnSpc>
              <a:spcBef>
                <a:spcPts val="0"/>
              </a:spcBef>
              <a:spcAft>
                <a:spcPts val="200"/>
              </a:spcAft>
              <a:defRPr lang="en-US" sz="1510" b="0">
                <a:solidFill>
                  <a:srgbClr val="607487"/>
                </a:solidFill>
                <a:latin typeface="Segoe UI"/>
              </a:defRPr>
            </a:pPr>
            <a:r>
              <a:t>Memory transitions yield the expected answer.</a:t>
            </a:r>
          </a:p>
        </p:txBody>
      </p:sp>
      <p:sp>
        <p:nvSpPr>
          <p:cNvPr id="14" name="Rounded Rectangle 13"/>
          <p:cNvSpPr/>
          <p:nvPr/>
        </p:nvSpPr>
        <p:spPr>
          <a:xfrm>
            <a:off x="6254496" y="2203704"/>
            <a:ext cx="5340096" cy="1389888"/>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64808" y="2432304"/>
            <a:ext cx="438912" cy="438912"/>
          </a:xfrm>
          <a:prstGeom prst="ellipse">
            <a:avLst/>
          </a:prstGeom>
          <a:solidFill>
            <a:srgbClr val="97C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4808" y="2505456"/>
            <a:ext cx="438912" cy="365759"/>
          </a:xfrm>
          <a:prstGeom prst="rect">
            <a:avLst/>
          </a:prstGeom>
          <a:noFill/>
        </p:spPr>
        <p:txBody>
          <a:bodyPr wrap="square" lIns="0" rIns="0" tIns="0" bIns="0" anchor="t">
            <a:spAutoFit/>
          </a:bodyPr>
          <a:lstStyle/>
          <a:p>
            <a:pPr algn="ctr">
              <a:lnSpc>
                <a:spcPct val="108000"/>
              </a:lnSpc>
              <a:spcBef>
                <a:spcPts val="0"/>
              </a:spcBef>
              <a:spcAft>
                <a:spcPts val="200"/>
              </a:spcAft>
              <a:defRPr lang="en-US" sz="1500" b="1">
                <a:solidFill>
                  <a:srgbClr val="122337"/>
                </a:solidFill>
                <a:latin typeface="Segoe UI"/>
              </a:defRPr>
            </a:pPr>
            <a:r>
              <a:t>02</a:t>
            </a:r>
          </a:p>
        </p:txBody>
      </p:sp>
      <p:sp>
        <p:nvSpPr>
          <p:cNvPr id="17" name="TextBox 16"/>
          <p:cNvSpPr txBox="1"/>
          <p:nvPr/>
        </p:nvSpPr>
        <p:spPr>
          <a:xfrm>
            <a:off x="7114032" y="2423160"/>
            <a:ext cx="4233672" cy="521207"/>
          </a:xfrm>
          <a:prstGeom prst="rect">
            <a:avLst/>
          </a:prstGeom>
          <a:noFill/>
        </p:spPr>
        <p:txBody>
          <a:bodyPr wrap="square" lIns="0" rIns="0" tIns="0" bIns="0" anchor="t">
            <a:spAutoFit/>
          </a:bodyPr>
          <a:lstStyle/>
          <a:p>
            <a:pPr algn="l">
              <a:lnSpc>
                <a:spcPct val="108000"/>
              </a:lnSpc>
              <a:spcBef>
                <a:spcPts val="0"/>
              </a:spcBef>
              <a:spcAft>
                <a:spcPts val="400"/>
              </a:spcAft>
              <a:defRPr lang="en-US" sz="1860" b="1">
                <a:solidFill>
                  <a:srgbClr val="122337"/>
                </a:solidFill>
                <a:latin typeface="Segoe UI"/>
              </a:defRPr>
            </a:pPr>
            <a:r>
              <a:t>Separate train / validation / test</a:t>
            </a:r>
          </a:p>
        </p:txBody>
      </p:sp>
      <p:sp>
        <p:nvSpPr>
          <p:cNvPr id="18" name="TextBox 17"/>
          <p:cNvSpPr txBox="1"/>
          <p:nvPr/>
        </p:nvSpPr>
        <p:spPr>
          <a:xfrm>
            <a:off x="7114032" y="3054096"/>
            <a:ext cx="4178808" cy="448056"/>
          </a:xfrm>
          <a:prstGeom prst="rect">
            <a:avLst/>
          </a:prstGeom>
          <a:noFill/>
        </p:spPr>
        <p:txBody>
          <a:bodyPr wrap="square" lIns="0" rIns="0" tIns="0" bIns="0" anchor="t">
            <a:spAutoFit/>
          </a:bodyPr>
          <a:lstStyle/>
          <a:p>
            <a:pPr algn="l">
              <a:lnSpc>
                <a:spcPct val="108000"/>
              </a:lnSpc>
              <a:spcBef>
                <a:spcPts val="0"/>
              </a:spcBef>
              <a:spcAft>
                <a:spcPts val="200"/>
              </a:spcAft>
              <a:defRPr lang="en-US" sz="1510" b="0">
                <a:solidFill>
                  <a:srgbClr val="607487"/>
                </a:solidFill>
                <a:latin typeface="Segoe UI"/>
              </a:defRPr>
            </a:pPr>
            <a:r>
              <a:t>Check duplicates and scenario overlap.</a:t>
            </a:r>
          </a:p>
        </p:txBody>
      </p:sp>
      <p:sp>
        <p:nvSpPr>
          <p:cNvPr id="19" name="Rounded Rectangle 18"/>
          <p:cNvSpPr/>
          <p:nvPr/>
        </p:nvSpPr>
        <p:spPr>
          <a:xfrm>
            <a:off x="594360" y="3877056"/>
            <a:ext cx="5340096" cy="1389888"/>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2" y="4105656"/>
            <a:ext cx="438912" cy="438912"/>
          </a:xfrm>
          <a:prstGeom prst="ellipse">
            <a:avLst/>
          </a:prstGeom>
          <a:solidFill>
            <a:srgbClr val="FF93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178808"/>
            <a:ext cx="438912" cy="365759"/>
          </a:xfrm>
          <a:prstGeom prst="rect">
            <a:avLst/>
          </a:prstGeom>
          <a:noFill/>
        </p:spPr>
        <p:txBody>
          <a:bodyPr wrap="square" lIns="0" rIns="0" tIns="0" bIns="0" anchor="t">
            <a:spAutoFit/>
          </a:bodyPr>
          <a:lstStyle/>
          <a:p>
            <a:pPr algn="ctr">
              <a:lnSpc>
                <a:spcPct val="108000"/>
              </a:lnSpc>
              <a:spcBef>
                <a:spcPts val="0"/>
              </a:spcBef>
              <a:spcAft>
                <a:spcPts val="200"/>
              </a:spcAft>
              <a:defRPr lang="en-US" sz="1500" b="1">
                <a:solidFill>
                  <a:srgbClr val="122337"/>
                </a:solidFill>
                <a:latin typeface="Segoe UI"/>
              </a:defRPr>
            </a:pPr>
            <a:r>
              <a:t>03</a:t>
            </a:r>
          </a:p>
        </p:txBody>
      </p:sp>
      <p:sp>
        <p:nvSpPr>
          <p:cNvPr id="22" name="TextBox 21"/>
          <p:cNvSpPr txBox="1"/>
          <p:nvPr/>
        </p:nvSpPr>
        <p:spPr>
          <a:xfrm>
            <a:off x="1453895" y="4096512"/>
            <a:ext cx="4233672" cy="521207"/>
          </a:xfrm>
          <a:prstGeom prst="rect">
            <a:avLst/>
          </a:prstGeom>
          <a:noFill/>
        </p:spPr>
        <p:txBody>
          <a:bodyPr wrap="square" lIns="0" rIns="0" tIns="0" bIns="0" anchor="t">
            <a:spAutoFit/>
          </a:bodyPr>
          <a:lstStyle/>
          <a:p>
            <a:pPr algn="l">
              <a:lnSpc>
                <a:spcPct val="108000"/>
              </a:lnSpc>
              <a:spcBef>
                <a:spcPts val="0"/>
              </a:spcBef>
              <a:spcAft>
                <a:spcPts val="400"/>
              </a:spcAft>
              <a:defRPr lang="en-US" sz="1860" b="1">
                <a:solidFill>
                  <a:srgbClr val="122337"/>
                </a:solidFill>
                <a:latin typeface="Segoe UI"/>
              </a:defRPr>
            </a:pPr>
            <a:r>
              <a:t>Apply Extraction commands</a:t>
            </a:r>
          </a:p>
        </p:txBody>
      </p:sp>
      <p:sp>
        <p:nvSpPr>
          <p:cNvPr id="23" name="TextBox 22"/>
          <p:cNvSpPr txBox="1"/>
          <p:nvPr/>
        </p:nvSpPr>
        <p:spPr>
          <a:xfrm>
            <a:off x="1453895" y="4727448"/>
            <a:ext cx="4178808" cy="448056"/>
          </a:xfrm>
          <a:prstGeom prst="rect">
            <a:avLst/>
          </a:prstGeom>
          <a:noFill/>
        </p:spPr>
        <p:txBody>
          <a:bodyPr wrap="square" lIns="0" rIns="0" tIns="0" bIns="0" anchor="t">
            <a:spAutoFit/>
          </a:bodyPr>
          <a:lstStyle/>
          <a:p>
            <a:pPr algn="l">
              <a:lnSpc>
                <a:spcPct val="108000"/>
              </a:lnSpc>
              <a:spcBef>
                <a:spcPts val="0"/>
              </a:spcBef>
              <a:spcAft>
                <a:spcPts val="200"/>
              </a:spcAft>
              <a:defRPr lang="en-US" sz="1510" b="0">
                <a:solidFill>
                  <a:srgbClr val="607487"/>
                </a:solidFill>
                <a:latin typeface="Segoe UI"/>
              </a:defRPr>
            </a:pPr>
            <a:r>
              <a:t>Commands produce the reference update.</a:t>
            </a:r>
          </a:p>
        </p:txBody>
      </p:sp>
      <p:sp>
        <p:nvSpPr>
          <p:cNvPr id="24" name="Rounded Rectangle 23"/>
          <p:cNvSpPr/>
          <p:nvPr/>
        </p:nvSpPr>
        <p:spPr>
          <a:xfrm>
            <a:off x="6254496" y="3877056"/>
            <a:ext cx="5340096" cy="1389888"/>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64808" y="4105656"/>
            <a:ext cx="438912" cy="438912"/>
          </a:xfrm>
          <a:prstGeom prst="ellipse">
            <a:avLst/>
          </a:prstGeom>
          <a:solidFill>
            <a:srgbClr val="B6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4808" y="4178808"/>
            <a:ext cx="438912" cy="365759"/>
          </a:xfrm>
          <a:prstGeom prst="rect">
            <a:avLst/>
          </a:prstGeom>
          <a:noFill/>
        </p:spPr>
        <p:txBody>
          <a:bodyPr wrap="square" lIns="0" rIns="0" tIns="0" bIns="0" anchor="t">
            <a:spAutoFit/>
          </a:bodyPr>
          <a:lstStyle/>
          <a:p>
            <a:pPr algn="ctr">
              <a:lnSpc>
                <a:spcPct val="108000"/>
              </a:lnSpc>
              <a:spcBef>
                <a:spcPts val="0"/>
              </a:spcBef>
              <a:spcAft>
                <a:spcPts val="200"/>
              </a:spcAft>
              <a:defRPr lang="en-US" sz="1500" b="1">
                <a:solidFill>
                  <a:srgbClr val="122337"/>
                </a:solidFill>
                <a:latin typeface="Segoe UI"/>
              </a:defRPr>
            </a:pPr>
            <a:r>
              <a:t>04</a:t>
            </a:r>
          </a:p>
        </p:txBody>
      </p:sp>
      <p:sp>
        <p:nvSpPr>
          <p:cNvPr id="27" name="TextBox 26"/>
          <p:cNvSpPr txBox="1"/>
          <p:nvPr/>
        </p:nvSpPr>
        <p:spPr>
          <a:xfrm>
            <a:off x="7114032" y="4096512"/>
            <a:ext cx="4233672" cy="521207"/>
          </a:xfrm>
          <a:prstGeom prst="rect">
            <a:avLst/>
          </a:prstGeom>
          <a:noFill/>
        </p:spPr>
        <p:txBody>
          <a:bodyPr wrap="square" lIns="0" rIns="0" tIns="0" bIns="0" anchor="t">
            <a:spAutoFit/>
          </a:bodyPr>
          <a:lstStyle/>
          <a:p>
            <a:pPr algn="l">
              <a:lnSpc>
                <a:spcPct val="108000"/>
              </a:lnSpc>
              <a:spcBef>
                <a:spcPts val="0"/>
              </a:spcBef>
              <a:spcAft>
                <a:spcPts val="400"/>
              </a:spcAft>
              <a:defRPr lang="en-US" sz="1860" b="1">
                <a:solidFill>
                  <a:srgbClr val="122337"/>
                </a:solidFill>
                <a:latin typeface="Segoe UI"/>
              </a:defRPr>
            </a:pPr>
            <a:r>
              <a:t>Check ChatML length</a:t>
            </a:r>
          </a:p>
        </p:txBody>
      </p:sp>
      <p:sp>
        <p:nvSpPr>
          <p:cNvPr id="28" name="TextBox 27"/>
          <p:cNvSpPr txBox="1"/>
          <p:nvPr/>
        </p:nvSpPr>
        <p:spPr>
          <a:xfrm>
            <a:off x="7114032" y="4727448"/>
            <a:ext cx="4178808" cy="448056"/>
          </a:xfrm>
          <a:prstGeom prst="rect">
            <a:avLst/>
          </a:prstGeom>
          <a:noFill/>
        </p:spPr>
        <p:txBody>
          <a:bodyPr wrap="square" lIns="0" rIns="0" tIns="0" bIns="0" anchor="t">
            <a:spAutoFit/>
          </a:bodyPr>
          <a:lstStyle/>
          <a:p>
            <a:pPr algn="l">
              <a:lnSpc>
                <a:spcPct val="108000"/>
              </a:lnSpc>
              <a:spcBef>
                <a:spcPts val="0"/>
              </a:spcBef>
              <a:spcAft>
                <a:spcPts val="200"/>
              </a:spcAft>
              <a:defRPr lang="en-US" sz="1510" b="0">
                <a:solidFill>
                  <a:srgbClr val="607487"/>
                </a:solidFill>
                <a:latin typeface="Segoe UI"/>
              </a:defRPr>
            </a:pPr>
            <a:r>
              <a:t>Replace an overlong episode as a whole.</a:t>
            </a:r>
          </a:p>
        </p:txBody>
      </p:sp>
      <p:sp>
        <p:nvSpPr>
          <p:cNvPr id="29" name="TextBox 28"/>
          <p:cNvSpPr txBox="1"/>
          <p:nvPr/>
        </p:nvSpPr>
        <p:spPr>
          <a:xfrm>
            <a:off x="621792" y="5971032"/>
            <a:ext cx="10945368" cy="365760"/>
          </a:xfrm>
          <a:prstGeom prst="rect">
            <a:avLst/>
          </a:prstGeom>
          <a:noFill/>
        </p:spPr>
        <p:txBody>
          <a:bodyPr wrap="square" lIns="0" rIns="0" tIns="0" bIns="0" anchor="t">
            <a:spAutoFit/>
          </a:bodyPr>
          <a:lstStyle/>
          <a:p>
            <a:pPr algn="l">
              <a:lnSpc>
                <a:spcPct val="108000"/>
              </a:lnSpc>
              <a:spcBef>
                <a:spcPts val="0"/>
              </a:spcBef>
              <a:spcAft>
                <a:spcPts val="200"/>
              </a:spcAft>
              <a:defRPr lang="en-US" sz="1410" b="0">
                <a:solidFill>
                  <a:srgbClr val="607487"/>
                </a:solidFill>
                <a:latin typeface="Segoe UI"/>
              </a:defRPr>
            </a:pPr>
            <a:r>
              <a:t>Shared templates and vocabulary are allowed: this is not an unseen-vocabulary benchmark.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233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13 / TRAINING</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FFFFFF"/>
                </a:solidFill>
                <a:latin typeface="Segoe UI"/>
              </a:defRPr>
            </a:pPr>
            <a:r>
              <a:t>Pretrained GPT-2 → ChatML → SFT.</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D3DFEA"/>
                </a:solidFill>
                <a:latin typeface="Segoe UI"/>
              </a:defRPr>
            </a:pPr>
            <a:r>
              <a:t>The trainer runs separately via CLI. Training is not part of the generation UI.</a:t>
            </a:r>
          </a:p>
        </p:txBody>
      </p:sp>
      <p:sp>
        <p:nvSpPr>
          <p:cNvPr id="5" name="Rectangle 4"/>
          <p:cNvSpPr/>
          <p:nvPr/>
        </p:nvSpPr>
        <p:spPr>
          <a:xfrm>
            <a:off x="594360" y="6437376"/>
            <a:ext cx="11000232" cy="13716"/>
          </a:xfrm>
          <a:prstGeom prst="rect">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10266883"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D3DFEA"/>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D3DFEA"/>
                </a:solidFill>
                <a:latin typeface="Segoe UI"/>
              </a:defRPr>
            </a:pPr>
            <a:r>
              <a:t>14 / 15</a:t>
            </a:r>
          </a:p>
        </p:txBody>
      </p:sp>
      <p:sp>
        <p:nvSpPr>
          <p:cNvPr id="9" name="Rounded Rectangle 8"/>
          <p:cNvSpPr/>
          <p:nvPr/>
        </p:nvSpPr>
        <p:spPr>
          <a:xfrm>
            <a:off x="594360" y="2221992"/>
            <a:ext cx="7150608" cy="3621024"/>
          </a:xfrm>
          <a:prstGeom prst="roundRect">
            <a:avLst>
              <a:gd name="adj" fmla="val 12000"/>
            </a:avLst>
          </a:prstGeom>
          <a:solidFill>
            <a:srgbClr val="1C34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505456"/>
            <a:ext cx="6601968"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EXAMPLE: TRAINING EXTRACTION</a:t>
            </a:r>
          </a:p>
        </p:txBody>
      </p:sp>
      <p:sp>
        <p:nvSpPr>
          <p:cNvPr id="11" name="TextBox 10"/>
          <p:cNvSpPr txBox="1"/>
          <p:nvPr/>
        </p:nvSpPr>
        <p:spPr>
          <a:xfrm>
            <a:off x="859536" y="3017520"/>
            <a:ext cx="6592824" cy="2414016"/>
          </a:xfrm>
          <a:prstGeom prst="rect">
            <a:avLst/>
          </a:prstGeom>
          <a:noFill/>
        </p:spPr>
        <p:txBody>
          <a:bodyPr wrap="square" lIns="0" rIns="0" tIns="0" bIns="0" anchor="t">
            <a:spAutoFit/>
          </a:bodyPr>
          <a:lstStyle/>
          <a:p>
            <a:pPr algn="l">
              <a:lnSpc>
                <a:spcPct val="108000"/>
              </a:lnSpc>
              <a:spcBef>
                <a:spcPts val="0"/>
              </a:spcBef>
              <a:spcAft>
                <a:spcPts val="200"/>
              </a:spcAft>
              <a:defRPr lang="en-US" sz="1680" b="0">
                <a:solidFill>
                  <a:srgbClr val="FFFFFF"/>
                </a:solidFill>
                <a:latin typeface="Consolas"/>
              </a:defRPr>
            </a:pPr>
            <a:r>
              <a:t>python -m `</a:t>
            </a:r>
          </a:p>
          <a:p>
            <a:pPr algn="l">
              <a:lnSpc>
                <a:spcPct val="108000"/>
              </a:lnSpc>
              <a:spcBef>
                <a:spcPts val="0"/>
              </a:spcBef>
              <a:spcAft>
                <a:spcPts val="200"/>
              </a:spcAft>
              <a:defRPr lang="en-US" sz="1680" b="0">
                <a:solidFill>
                  <a:srgbClr val="FFFFFF"/>
                </a:solidFill>
                <a:latin typeface="Consolas"/>
              </a:defRPr>
            </a:pPr>
            <a:r>
              <a:t>  semantic_corpus.dialogue_generator.trainer `</a:t>
            </a:r>
          </a:p>
          <a:p>
            <a:pPr algn="l">
              <a:lnSpc>
                <a:spcPct val="108000"/>
              </a:lnSpc>
              <a:spcBef>
                <a:spcPts val="0"/>
              </a:spcBef>
              <a:spcAft>
                <a:spcPts val="200"/>
              </a:spcAft>
              <a:defRPr lang="en-US" sz="1680" b="0">
                <a:solidFill>
                  <a:srgbClr val="FFFFFF"/>
                </a:solidFill>
                <a:latin typeface="Consolas"/>
              </a:defRPr>
            </a:pPr>
            <a:r>
              <a:t>  train --view extraction --model gpt2 `</a:t>
            </a:r>
          </a:p>
          <a:p>
            <a:pPr algn="l">
              <a:lnSpc>
                <a:spcPct val="108000"/>
              </a:lnSpc>
              <a:spcBef>
                <a:spcPts val="0"/>
              </a:spcBef>
              <a:spcAft>
                <a:spcPts val="200"/>
              </a:spcAft>
              <a:defRPr lang="en-US" sz="1680" b="0">
                <a:solidFill>
                  <a:srgbClr val="FFFFFF"/>
                </a:solidFill>
                <a:latin typeface="Consolas"/>
              </a:defRPr>
            </a:pPr>
            <a:r>
              <a:t>  --data artifacts/my-dialogues/extraction `</a:t>
            </a:r>
          </a:p>
          <a:p>
            <a:pPr algn="l">
              <a:lnSpc>
                <a:spcPct val="108000"/>
              </a:lnSpc>
              <a:spcBef>
                <a:spcPts val="0"/>
              </a:spcBef>
              <a:spcAft>
                <a:spcPts val="200"/>
              </a:spcAft>
              <a:defRPr lang="en-US" sz="1680" b="0">
                <a:solidFill>
                  <a:srgbClr val="FFFFFF"/>
                </a:solidFill>
                <a:latin typeface="Consolas"/>
              </a:defRPr>
            </a:pPr>
            <a:r>
              <a:t>  --out artifacts/training/gpt2-extraction `</a:t>
            </a:r>
          </a:p>
          <a:p>
            <a:pPr algn="l">
              <a:lnSpc>
                <a:spcPct val="108000"/>
              </a:lnSpc>
              <a:spcBef>
                <a:spcPts val="0"/>
              </a:spcBef>
              <a:spcAft>
                <a:spcPts val="200"/>
              </a:spcAft>
              <a:defRPr lang="en-US" sz="1680" b="0">
                <a:solidFill>
                  <a:srgbClr val="FFFFFF"/>
                </a:solidFill>
                <a:latin typeface="Consolas"/>
              </a:defRPr>
            </a:pPr>
            <a:r>
              <a:t>  --epochs 3 --max-length 768</a:t>
            </a:r>
          </a:p>
        </p:txBody>
      </p:sp>
      <p:sp>
        <p:nvSpPr>
          <p:cNvPr id="12" name="TextBox 11"/>
          <p:cNvSpPr txBox="1"/>
          <p:nvPr/>
        </p:nvSpPr>
        <p:spPr>
          <a:xfrm>
            <a:off x="859536" y="5504688"/>
            <a:ext cx="6592824"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0">
                <a:solidFill>
                  <a:srgbClr val="D3DFEA"/>
                </a:solidFill>
                <a:latin typeface="Segoe UI"/>
              </a:defRPr>
            </a:pPr>
            <a:r>
              <a:t>PowerShell · replace the dataset path with your own.</a:t>
            </a:r>
          </a:p>
        </p:txBody>
      </p:sp>
      <p:sp>
        <p:nvSpPr>
          <p:cNvPr id="13" name="TextBox 12"/>
          <p:cNvSpPr txBox="1"/>
          <p:nvPr/>
        </p:nvSpPr>
        <p:spPr>
          <a:xfrm>
            <a:off x="8220456" y="2478024"/>
            <a:ext cx="3108960"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100" b="1">
                <a:solidFill>
                  <a:srgbClr val="45D6AF"/>
                </a:solidFill>
                <a:latin typeface="Segoe UI"/>
              </a:defRPr>
            </a:pPr>
            <a:r>
              <a:t>TRAIN</a:t>
            </a:r>
          </a:p>
        </p:txBody>
      </p:sp>
      <p:sp>
        <p:nvSpPr>
          <p:cNvPr id="14" name="TextBox 13"/>
          <p:cNvSpPr txBox="1"/>
          <p:nvPr/>
        </p:nvSpPr>
        <p:spPr>
          <a:xfrm>
            <a:off x="8220456" y="2889504"/>
            <a:ext cx="3108960" cy="566928"/>
          </a:xfrm>
          <a:prstGeom prst="rect">
            <a:avLst/>
          </a:prstGeom>
          <a:noFill/>
        </p:spPr>
        <p:txBody>
          <a:bodyPr wrap="square" lIns="0" rIns="0" tIns="0" bIns="0" anchor="t">
            <a:spAutoFit/>
          </a:bodyPr>
          <a:lstStyle/>
          <a:p>
            <a:pPr algn="l">
              <a:lnSpc>
                <a:spcPct val="108000"/>
              </a:lnSpc>
              <a:spcBef>
                <a:spcPts val="0"/>
              </a:spcBef>
              <a:spcAft>
                <a:spcPts val="400"/>
              </a:spcAft>
              <a:defRPr lang="en-US" sz="1839" b="0">
                <a:solidFill>
                  <a:srgbClr val="FFFFFF"/>
                </a:solidFill>
                <a:latin typeface="Segoe UI"/>
              </a:defRPr>
            </a:pPr>
            <a:r>
              <a:t>Update model weights</a:t>
            </a:r>
          </a:p>
        </p:txBody>
      </p:sp>
      <p:sp>
        <p:nvSpPr>
          <p:cNvPr id="15" name="TextBox 14"/>
          <p:cNvSpPr txBox="1"/>
          <p:nvPr/>
        </p:nvSpPr>
        <p:spPr>
          <a:xfrm>
            <a:off x="8220456" y="3557016"/>
            <a:ext cx="3108960"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100" b="1">
                <a:solidFill>
                  <a:srgbClr val="97CDF8"/>
                </a:solidFill>
                <a:latin typeface="Segoe UI"/>
              </a:defRPr>
            </a:pPr>
            <a:r>
              <a:t>VALIDATION</a:t>
            </a:r>
          </a:p>
        </p:txBody>
      </p:sp>
      <p:sp>
        <p:nvSpPr>
          <p:cNvPr id="16" name="TextBox 15"/>
          <p:cNvSpPr txBox="1"/>
          <p:nvPr/>
        </p:nvSpPr>
        <p:spPr>
          <a:xfrm>
            <a:off x="8220456" y="3968496"/>
            <a:ext cx="3108960" cy="566928"/>
          </a:xfrm>
          <a:prstGeom prst="rect">
            <a:avLst/>
          </a:prstGeom>
          <a:noFill/>
        </p:spPr>
        <p:txBody>
          <a:bodyPr wrap="square" lIns="0" rIns="0" tIns="0" bIns="0" anchor="t">
            <a:spAutoFit/>
          </a:bodyPr>
          <a:lstStyle/>
          <a:p>
            <a:pPr algn="l">
              <a:lnSpc>
                <a:spcPct val="108000"/>
              </a:lnSpc>
              <a:spcBef>
                <a:spcPts val="0"/>
              </a:spcBef>
              <a:spcAft>
                <a:spcPts val="400"/>
              </a:spcAft>
              <a:defRPr lang="en-US" sz="1839" b="0">
                <a:solidFill>
                  <a:srgbClr val="FFFFFF"/>
                </a:solidFill>
                <a:latin typeface="Segoe UI"/>
              </a:defRPr>
            </a:pPr>
            <a:r>
              <a:t>Select the best model</a:t>
            </a:r>
          </a:p>
        </p:txBody>
      </p:sp>
      <p:sp>
        <p:nvSpPr>
          <p:cNvPr id="17" name="TextBox 16"/>
          <p:cNvSpPr txBox="1"/>
          <p:nvPr/>
        </p:nvSpPr>
        <p:spPr>
          <a:xfrm>
            <a:off x="8220456" y="4636008"/>
            <a:ext cx="3108960" cy="237744"/>
          </a:xfrm>
          <a:prstGeom prst="rect">
            <a:avLst/>
          </a:prstGeom>
          <a:noFill/>
        </p:spPr>
        <p:txBody>
          <a:bodyPr wrap="square" lIns="0" rIns="0" tIns="0" bIns="0" anchor="t">
            <a:spAutoFit/>
          </a:bodyPr>
          <a:lstStyle/>
          <a:p>
            <a:pPr algn="l">
              <a:lnSpc>
                <a:spcPct val="108000"/>
              </a:lnSpc>
              <a:spcBef>
                <a:spcPts val="0"/>
              </a:spcBef>
              <a:spcAft>
                <a:spcPts val="200"/>
              </a:spcAft>
              <a:defRPr lang="en-US" sz="1100" b="1">
                <a:solidFill>
                  <a:srgbClr val="FF936D"/>
                </a:solidFill>
                <a:latin typeface="Segoe UI"/>
              </a:defRPr>
            </a:pPr>
            <a:r>
              <a:t>TEST</a:t>
            </a:r>
          </a:p>
        </p:txBody>
      </p:sp>
      <p:sp>
        <p:nvSpPr>
          <p:cNvPr id="18" name="TextBox 17"/>
          <p:cNvSpPr txBox="1"/>
          <p:nvPr/>
        </p:nvSpPr>
        <p:spPr>
          <a:xfrm>
            <a:off x="8220456" y="5047488"/>
            <a:ext cx="3108960" cy="566928"/>
          </a:xfrm>
          <a:prstGeom prst="rect">
            <a:avLst/>
          </a:prstGeom>
          <a:noFill/>
        </p:spPr>
        <p:txBody>
          <a:bodyPr wrap="square" lIns="0" rIns="0" tIns="0" bIns="0" anchor="t">
            <a:spAutoFit/>
          </a:bodyPr>
          <a:lstStyle/>
          <a:p>
            <a:pPr algn="l">
              <a:lnSpc>
                <a:spcPct val="108000"/>
              </a:lnSpc>
              <a:spcBef>
                <a:spcPts val="0"/>
              </a:spcBef>
              <a:spcAft>
                <a:spcPts val="400"/>
              </a:spcAft>
              <a:defRPr lang="en-US" sz="1839" b="0">
                <a:solidFill>
                  <a:srgbClr val="FFFFFF"/>
                </a:solidFill>
                <a:latin typeface="Segoe UI"/>
              </a:defRPr>
            </a:pPr>
            <a:r>
              <a:t>Evaluate the final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7"/>
        </a:solidFill>
        <a:effectLst/>
      </p:bgPr>
    </p:bg>
    <p:spTree>
      <p:nvGrpSpPr>
        <p:cNvPr id="1" name=""/>
        <p:cNvGrpSpPr/>
        <p:nvPr/>
      </p:nvGrpSpPr>
      <p:grpSpPr/>
      <p:sp>
        <p:nvSpPr>
          <p:cNvPr id="2" name="TextBox 1"/>
          <p:cNvSpPr txBox="1"/>
          <p:nvPr/>
        </p:nvSpPr>
        <p:spPr>
          <a:xfrm>
            <a:off x="585216" y="365760"/>
            <a:ext cx="10789920" cy="228600"/>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607487"/>
                </a:solidFill>
                <a:latin typeface="Segoe UI"/>
              </a:defRPr>
            </a:pPr>
            <a:r>
              <a:t>14 / EVALUATION</a:t>
            </a:r>
          </a:p>
        </p:txBody>
      </p:sp>
      <p:sp>
        <p:nvSpPr>
          <p:cNvPr id="3" name="TextBox 2"/>
          <p:cNvSpPr txBox="1"/>
          <p:nvPr/>
        </p:nvSpPr>
        <p:spPr>
          <a:xfrm>
            <a:off x="585216" y="850392"/>
            <a:ext cx="11018520" cy="603504"/>
          </a:xfrm>
          <a:prstGeom prst="rect">
            <a:avLst/>
          </a:prstGeom>
          <a:noFill/>
        </p:spPr>
        <p:txBody>
          <a:bodyPr wrap="square" lIns="0" rIns="0" tIns="0" bIns="0" anchor="t">
            <a:spAutoFit/>
          </a:bodyPr>
          <a:lstStyle/>
          <a:p>
            <a:pPr algn="l">
              <a:lnSpc>
                <a:spcPct val="108000"/>
              </a:lnSpc>
              <a:spcBef>
                <a:spcPts val="0"/>
              </a:spcBef>
              <a:spcAft>
                <a:spcPts val="400"/>
              </a:spcAft>
              <a:defRPr lang="en-US" sz="3200" b="1">
                <a:solidFill>
                  <a:srgbClr val="122337"/>
                </a:solidFill>
                <a:latin typeface="Segoe UI"/>
              </a:defRPr>
            </a:pPr>
            <a:r>
              <a:t>Evaluate answers and memory updates separately.</a:t>
            </a:r>
          </a:p>
        </p:txBody>
      </p:sp>
      <p:sp>
        <p:nvSpPr>
          <p:cNvPr id="4" name="TextBox 3"/>
          <p:cNvSpPr txBox="1"/>
          <p:nvPr/>
        </p:nvSpPr>
        <p:spPr>
          <a:xfrm>
            <a:off x="603504" y="1517904"/>
            <a:ext cx="10881360" cy="457200"/>
          </a:xfrm>
          <a:prstGeom prst="rect">
            <a:avLst/>
          </a:prstGeom>
          <a:noFill/>
        </p:spPr>
        <p:txBody>
          <a:bodyPr wrap="square" lIns="0" rIns="0" tIns="0" bIns="0" anchor="t">
            <a:spAutoFit/>
          </a:bodyPr>
          <a:lstStyle/>
          <a:p>
            <a:pPr algn="l">
              <a:lnSpc>
                <a:spcPct val="108000"/>
              </a:lnSpc>
              <a:spcBef>
                <a:spcPts val="0"/>
              </a:spcBef>
              <a:spcAft>
                <a:spcPts val="200"/>
              </a:spcAft>
              <a:defRPr lang="en-US" sz="1520" b="0">
                <a:solidFill>
                  <a:srgbClr val="607487"/>
                </a:solidFill>
                <a:latin typeface="Segoe UI"/>
              </a:defRPr>
            </a:pPr>
            <a:r>
              <a:t>A valid dataset enables the experiment; model quality is measured after SFT.</a:t>
            </a:r>
          </a:p>
        </p:txBody>
      </p:sp>
      <p:sp>
        <p:nvSpPr>
          <p:cNvPr id="5" name="Rectangle 4"/>
          <p:cNvSpPr/>
          <p:nvPr/>
        </p:nvSpPr>
        <p:spPr>
          <a:xfrm>
            <a:off x="594360" y="6437376"/>
            <a:ext cx="11000232" cy="13716"/>
          </a:xfrm>
          <a:prstGeom prst="rect">
            <a:avLst/>
          </a:prstGeom>
          <a:solidFill>
            <a:srgbClr val="DCE4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6437376"/>
            <a:ext cx="11000232" cy="25603"/>
          </a:xfrm>
          <a:prstGeom prst="rect">
            <a:avLst/>
          </a:prstGeom>
          <a:solidFill>
            <a:srgbClr val="45D6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6528816"/>
            <a:ext cx="8046720" cy="182880"/>
          </a:xfrm>
          <a:prstGeom prst="rect">
            <a:avLst/>
          </a:prstGeom>
          <a:noFill/>
        </p:spPr>
        <p:txBody>
          <a:bodyPr wrap="square" lIns="0" rIns="0" tIns="0" bIns="0" anchor="t">
            <a:spAutoFit/>
          </a:bodyPr>
          <a:lstStyle/>
          <a:p>
            <a:pPr algn="l">
              <a:lnSpc>
                <a:spcPct val="108000"/>
              </a:lnSpc>
              <a:spcBef>
                <a:spcPts val="0"/>
              </a:spcBef>
              <a:spcAft>
                <a:spcPts val="200"/>
              </a:spcAft>
              <a:defRPr lang="en-US" sz="860" b="0">
                <a:solidFill>
                  <a:srgbClr val="607487"/>
                </a:solidFill>
                <a:latin typeface="Segoe UI"/>
              </a:defRPr>
            </a:pPr>
            <a:r>
              <a:t>QA-SRL GEN  /  DIALOGUE DATASETS</a:t>
            </a:r>
          </a:p>
        </p:txBody>
      </p:sp>
      <p:sp>
        <p:nvSpPr>
          <p:cNvPr id="8" name="TextBox 7"/>
          <p:cNvSpPr txBox="1"/>
          <p:nvPr/>
        </p:nvSpPr>
        <p:spPr>
          <a:xfrm>
            <a:off x="10607040" y="6501384"/>
            <a:ext cx="987552" cy="219456"/>
          </a:xfrm>
          <a:prstGeom prst="rect">
            <a:avLst/>
          </a:prstGeom>
          <a:noFill/>
        </p:spPr>
        <p:txBody>
          <a:bodyPr wrap="square" lIns="0" rIns="0" tIns="0" bIns="0" anchor="t">
            <a:spAutoFit/>
          </a:bodyPr>
          <a:lstStyle/>
          <a:p>
            <a:pPr algn="r">
              <a:lnSpc>
                <a:spcPct val="108000"/>
              </a:lnSpc>
              <a:spcBef>
                <a:spcPts val="0"/>
              </a:spcBef>
              <a:spcAft>
                <a:spcPts val="200"/>
              </a:spcAft>
              <a:defRPr lang="en-US" sz="1000" b="0">
                <a:solidFill>
                  <a:srgbClr val="607487"/>
                </a:solidFill>
                <a:latin typeface="Segoe UI"/>
              </a:defRPr>
            </a:pPr>
            <a:r>
              <a:t>15 / 15</a:t>
            </a:r>
          </a:p>
        </p:txBody>
      </p:sp>
      <p:sp>
        <p:nvSpPr>
          <p:cNvPr id="9" name="Rounded Rectangle 8"/>
          <p:cNvSpPr/>
          <p:nvPr/>
        </p:nvSpPr>
        <p:spPr>
          <a:xfrm>
            <a:off x="594360" y="2212848"/>
            <a:ext cx="5340096" cy="2295144"/>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54496" y="2212848"/>
            <a:ext cx="5340096" cy="2295144"/>
          </a:xfrm>
          <a:prstGeom prst="roundRect">
            <a:avLst>
              <a:gd name="adj" fmla="val 12000"/>
            </a:avLst>
          </a:prstGeom>
          <a:solidFill>
            <a:srgbClr val="FFFFFF"/>
          </a:solidFill>
          <a:ln w="10160">
            <a:solidFill>
              <a:srgbClr val="DCE4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0392" y="2478024"/>
            <a:ext cx="4809744" cy="246888"/>
          </a:xfrm>
          <a:prstGeom prst="rect">
            <a:avLst/>
          </a:prstGeom>
          <a:noFill/>
        </p:spPr>
        <p:txBody>
          <a:bodyPr wrap="square" lIns="0" rIns="0" tIns="0" bIns="0" anchor="t">
            <a:spAutoFit/>
          </a:bodyPr>
          <a:lstStyle/>
          <a:p>
            <a:pPr algn="l">
              <a:lnSpc>
                <a:spcPct val="108000"/>
              </a:lnSpc>
              <a:spcBef>
                <a:spcPts val="0"/>
              </a:spcBef>
              <a:spcAft>
                <a:spcPts val="200"/>
              </a:spcAft>
              <a:defRPr lang="en-US" sz="1200" b="1">
                <a:solidFill>
                  <a:srgbClr val="607487"/>
                </a:solidFill>
                <a:latin typeface="Segoe UI"/>
              </a:defRPr>
            </a:pPr>
            <a:r>
              <a:t>MEMORY / HISTORY</a:t>
            </a:r>
          </a:p>
        </p:txBody>
      </p:sp>
      <p:sp>
        <p:nvSpPr>
          <p:cNvPr id="12" name="TextBox 11"/>
          <p:cNvSpPr txBox="1"/>
          <p:nvPr/>
        </p:nvSpPr>
        <p:spPr>
          <a:xfrm>
            <a:off x="850392" y="3063240"/>
            <a:ext cx="4809744" cy="1170432"/>
          </a:xfrm>
          <a:prstGeom prst="rect">
            <a:avLst/>
          </a:prstGeom>
          <a:noFill/>
        </p:spPr>
        <p:txBody>
          <a:bodyPr wrap="square" lIns="0" rIns="0" tIns="0" bIns="0" anchor="t">
            <a:spAutoFit/>
          </a:bodyPr>
          <a:lstStyle/>
          <a:p>
            <a:pPr algn="l">
              <a:lnSpc>
                <a:spcPct val="108000"/>
              </a:lnSpc>
              <a:spcBef>
                <a:spcPts val="0"/>
              </a:spcBef>
              <a:spcAft>
                <a:spcPts val="400"/>
              </a:spcAft>
              <a:defRPr lang="en-US" sz="2100" b="0">
                <a:solidFill>
                  <a:srgbClr val="122337"/>
                </a:solidFill>
                <a:latin typeface="Segoe UI"/>
              </a:defRPr>
            </a:pPr>
            <a:r>
              <a:t>Answer accuracy</a:t>
            </a:r>
          </a:p>
          <a:p>
            <a:pPr algn="l">
              <a:lnSpc>
                <a:spcPct val="108000"/>
              </a:lnSpc>
              <a:spcBef>
                <a:spcPts val="0"/>
              </a:spcBef>
              <a:spcAft>
                <a:spcPts val="400"/>
              </a:spcAft>
              <a:defRPr lang="en-US" sz="2100" b="0">
                <a:solidFill>
                  <a:srgbClr val="122337"/>
                </a:solidFill>
                <a:latin typeface="Segoe UI"/>
              </a:defRPr>
            </a:pPr>
            <a:r>
              <a:t>Yes / no / unknown errors</a:t>
            </a:r>
          </a:p>
          <a:p>
            <a:pPr algn="l">
              <a:lnSpc>
                <a:spcPct val="108000"/>
              </a:lnSpc>
              <a:spcBef>
                <a:spcPts val="0"/>
              </a:spcBef>
              <a:spcAft>
                <a:spcPts val="400"/>
              </a:spcAft>
              <a:defRPr lang="en-US" sz="2100" b="0">
                <a:solidFill>
                  <a:srgbClr val="122337"/>
                </a:solidFill>
                <a:latin typeface="Segoe UI"/>
              </a:defRPr>
            </a:pPr>
            <a:r>
              <a:t>Results by task type</a:t>
            </a:r>
          </a:p>
        </p:txBody>
      </p:sp>
      <p:sp>
        <p:nvSpPr>
          <p:cNvPr id="13" name="TextBox 12"/>
          <p:cNvSpPr txBox="1"/>
          <p:nvPr/>
        </p:nvSpPr>
        <p:spPr>
          <a:xfrm>
            <a:off x="6510528" y="2478024"/>
            <a:ext cx="4809744" cy="246888"/>
          </a:xfrm>
          <a:prstGeom prst="rect">
            <a:avLst/>
          </a:prstGeom>
          <a:noFill/>
        </p:spPr>
        <p:txBody>
          <a:bodyPr wrap="square" lIns="0" rIns="0" tIns="0" bIns="0" anchor="t">
            <a:spAutoFit/>
          </a:bodyPr>
          <a:lstStyle/>
          <a:p>
            <a:pPr algn="l">
              <a:lnSpc>
                <a:spcPct val="108000"/>
              </a:lnSpc>
              <a:spcBef>
                <a:spcPts val="0"/>
              </a:spcBef>
              <a:spcAft>
                <a:spcPts val="200"/>
              </a:spcAft>
              <a:defRPr lang="en-US" sz="1200" b="1">
                <a:solidFill>
                  <a:srgbClr val="607487"/>
                </a:solidFill>
                <a:latin typeface="Segoe UI"/>
              </a:defRPr>
            </a:pPr>
            <a:r>
              <a:t>EXTRACTION</a:t>
            </a:r>
          </a:p>
        </p:txBody>
      </p:sp>
      <p:sp>
        <p:nvSpPr>
          <p:cNvPr id="14" name="TextBox 13"/>
          <p:cNvSpPr txBox="1"/>
          <p:nvPr/>
        </p:nvSpPr>
        <p:spPr>
          <a:xfrm>
            <a:off x="6510528" y="3063240"/>
            <a:ext cx="4809744" cy="1170432"/>
          </a:xfrm>
          <a:prstGeom prst="rect">
            <a:avLst/>
          </a:prstGeom>
          <a:noFill/>
        </p:spPr>
        <p:txBody>
          <a:bodyPr wrap="square" lIns="0" rIns="0" tIns="0" bIns="0" anchor="t">
            <a:spAutoFit/>
          </a:bodyPr>
          <a:lstStyle/>
          <a:p>
            <a:pPr algn="l">
              <a:lnSpc>
                <a:spcPct val="108000"/>
              </a:lnSpc>
              <a:spcBef>
                <a:spcPts val="0"/>
              </a:spcBef>
              <a:spcAft>
                <a:spcPts val="400"/>
              </a:spcAft>
              <a:defRPr lang="en-US" sz="1930" b="0">
                <a:solidFill>
                  <a:srgbClr val="122337"/>
                </a:solidFill>
                <a:latin typeface="Segoe UI"/>
              </a:defRPr>
            </a:pPr>
            <a:r>
              <a:t>Command validity and application</a:t>
            </a:r>
          </a:p>
          <a:p>
            <a:pPr algn="l">
              <a:lnSpc>
                <a:spcPct val="108000"/>
              </a:lnSpc>
              <a:spcBef>
                <a:spcPts val="0"/>
              </a:spcBef>
              <a:spcAft>
                <a:spcPts val="400"/>
              </a:spcAft>
              <a:defRPr lang="en-US" sz="1930" b="0">
                <a:solidFill>
                  <a:srgbClr val="122337"/>
                </a:solidFill>
                <a:latin typeface="Segoe UI"/>
              </a:defRPr>
            </a:pPr>
            <a:r>
              <a:t>Update and resulting-state match</a:t>
            </a:r>
          </a:p>
          <a:p>
            <a:pPr algn="l">
              <a:lnSpc>
                <a:spcPct val="108000"/>
              </a:lnSpc>
              <a:spcBef>
                <a:spcPts val="0"/>
              </a:spcBef>
              <a:spcAft>
                <a:spcPts val="400"/>
              </a:spcAft>
              <a:defRPr lang="en-US" sz="1930" b="0">
                <a:solidFill>
                  <a:srgbClr val="122337"/>
                </a:solidFill>
                <a:latin typeface="Segoe UI"/>
              </a:defRPr>
            </a:pPr>
            <a:r>
              <a:t>False updates on NO_CHANGE</a:t>
            </a:r>
          </a:p>
        </p:txBody>
      </p:sp>
      <p:sp>
        <p:nvSpPr>
          <p:cNvPr id="15" name="Rounded Rectangle 14"/>
          <p:cNvSpPr/>
          <p:nvPr/>
        </p:nvSpPr>
        <p:spPr>
          <a:xfrm>
            <a:off x="594360" y="4873752"/>
            <a:ext cx="11000232" cy="1243584"/>
          </a:xfrm>
          <a:prstGeom prst="roundRect">
            <a:avLst>
              <a:gd name="adj" fmla="val 12000"/>
            </a:avLst>
          </a:prstGeom>
          <a:solidFill>
            <a:srgbClr val="1223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093208"/>
            <a:ext cx="10442448" cy="210312"/>
          </a:xfrm>
          <a:prstGeom prst="rect">
            <a:avLst/>
          </a:prstGeom>
          <a:noFill/>
        </p:spPr>
        <p:txBody>
          <a:bodyPr wrap="square" lIns="0" rIns="0" tIns="0" bIns="0" anchor="t">
            <a:spAutoFit/>
          </a:bodyPr>
          <a:lstStyle/>
          <a:p>
            <a:pPr algn="l">
              <a:lnSpc>
                <a:spcPct val="108000"/>
              </a:lnSpc>
              <a:spcBef>
                <a:spcPts val="0"/>
              </a:spcBef>
              <a:spcAft>
                <a:spcPts val="200"/>
              </a:spcAft>
              <a:defRPr lang="en-US" sz="1050" b="1">
                <a:solidFill>
                  <a:srgbClr val="45D6AF"/>
                </a:solidFill>
                <a:latin typeface="Segoe UI"/>
              </a:defRPr>
            </a:pPr>
            <a:r>
              <a:t>NEXT ITERATION</a:t>
            </a:r>
          </a:p>
        </p:txBody>
      </p:sp>
      <p:sp>
        <p:nvSpPr>
          <p:cNvPr id="17" name="TextBox 16"/>
          <p:cNvSpPr txBox="1"/>
          <p:nvPr/>
        </p:nvSpPr>
        <p:spPr>
          <a:xfrm>
            <a:off x="859536" y="5486400"/>
            <a:ext cx="10442448" cy="438912"/>
          </a:xfrm>
          <a:prstGeom prst="rect">
            <a:avLst/>
          </a:prstGeom>
          <a:noFill/>
        </p:spPr>
        <p:txBody>
          <a:bodyPr wrap="square" lIns="0" rIns="0" tIns="0" bIns="0" anchor="t">
            <a:spAutoFit/>
          </a:bodyPr>
          <a:lstStyle/>
          <a:p>
            <a:pPr algn="l">
              <a:lnSpc>
                <a:spcPct val="108000"/>
              </a:lnSpc>
              <a:spcBef>
                <a:spcPts val="0"/>
              </a:spcBef>
              <a:spcAft>
                <a:spcPts val="400"/>
              </a:spcAft>
              <a:defRPr lang="en-US" sz="1820" b="1">
                <a:solidFill>
                  <a:srgbClr val="FFFFFF"/>
                </a:solidFill>
                <a:latin typeface="Segoe UI"/>
              </a:defRPr>
            </a:pPr>
            <a:r>
              <a:t>Tense variety → targeted contrasts → end-to-end Extraction → Memory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Dialogue Datasets</dc:title>
  <dc:subject>QA-SRL Gen: scenarios, memory, Extraction, ChatML and SFT</dc:subject>
  <dc:creator>QA-SRL Gen</dc:creator>
  <cp:keywords>dialogue, dataset, extraction, memory, history, GPT-2, SFT</cp:keywords>
  <dc:description>Editable English presentation about dialogue dataset generation.</dc:description>
  <cp:lastModifiedBy>QA-SRL Gen</cp:lastModifiedBy>
  <cp:revision>2</cp:revision>
  <dcterms:created xsi:type="dcterms:W3CDTF">2013-01-27T09:14:16Z</dcterms:created>
  <dcterms:modified xsi:type="dcterms:W3CDTF">2026-10-11T13:49:49Z</dcterms:modified>
  <cp:category/>
</cp:coreProperties>
</file>