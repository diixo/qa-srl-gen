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Презентация описывает действующую реализацию генератора и отдельного CLI-тренера. Это генерация управляемых англоязычных диалогов с известным состоянием. Качество обученной модели требует отдельного измерения; метрики обучения здесь не заявляются.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semantic_corpus/dialogue_generator/README.md</a:t>
            </a:r>
          </a:p>
          <a:p>
            <a:r>
              <a:t>ui/app_main/chat_dataset.py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Учебные примеры: желание без сообщения об исходе даёт unknown; явное отрицание — no; явное сообщение о покупке — yes. Истина симулятора относится к содержимому диалога, а не к независимой проверке реального мира. В задачах mined_predicates отдельно различаются сообщение о событии и его завершённость.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semantic_corpus/dialogue_generator/contrast.py</a:t>
            </a:r>
          </a:p>
          <a:p>
            <a:r>
              <a:t>semantic_corpus/dialogue_generator/models.py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DialogueGenerator формирует Episode, переходы состояния и финальный Query. Episode.validate() повторно применяет изменения и проверяет ответ. Генерация использует сохранённые ресурсы, не обращаясь к LLM или HTTP teacher. При заданном лимите токенов дополнительно нужен локальный токенизатор.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semantic_corpus/dialogue_generator/generator.py</a:t>
            </a:r>
          </a:p>
          <a:p>
            <a:r>
              <a:t>semantic_corpus/dialogue_generator/models.py</a:t>
            </a:r>
          </a:p>
          <a:p>
            <a:r>
              <a:t>semantic_corpus/dialogue_generator/export.py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текущем рабочем представлении 4031 записей глагольного инвентаря. Это не число проверенных значений глаголов. BuiltInPool читает data/eng-base-templates и зарегистрированные ресурсы data/mined-templates/&lt;job-id&gt;. Переход к одному физическому архиву обсуждался, но на момент презентации не реализован. Современный UI-майнинг обязательно добавляет проверенные ресурсы в единый логический пул. Синтаксическая валидация не подтверждает семантическую истинность.</a:t>
            </a:r>
          </a:p>
          <a:p/>
          <a:p>
            <a:r>
              <a:t>Источники в проекте:</a:t>
            </a:r>
          </a:p>
          <a:p>
            <a:r>
              <a:t>semantic_corpus/resource_pool.py</a:t>
            </a:r>
          </a:p>
          <a:p>
            <a:r>
              <a:t>semantic_corpus/template_registry.py</a:t>
            </a:r>
          </a:p>
          <a:p>
            <a:r>
              <a:t>semantic_corpus/dialogue_generator/mined_bank.py</a:t>
            </a:r>
          </a:p>
          <a:p>
            <a:r>
              <a:t>ui/app_main/template_mining.py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Группировка на слайде презентационная; коды задач перечислены в generator.py и TASK_LABELS. Существующие задачи включают recall, correction, different_people, negation, desire_vs_done, option_reference, ambiguous_reference, unknown, suggestion_vs_done, topic_return, retraction, capability, event_scope, event_progress, event_updates, event_states, mined_predicates. Количество задач не является показателем свободной разговорной компетенции.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semantic_corpus/dialogue_generator/generator.py</a:t>
            </a:r>
          </a:p>
          <a:p>
            <a:r>
              <a:t>ui/app_main/chat_dataset.py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на слайде пояснительная, не буквальная сериализация Event. Event хранит предикат, типизированные аргументы, контекст времени, операторы, фазу и tense. В намайненных событиях reported означает прошедшее сообщение о предикации и не гарантирует достижение конечного результата. evidence и ID добавляет код.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semantic_corpus/dialogue_generator/events.py</a:t>
            </a:r>
          </a:p>
          <a:p>
            <a:r>
              <a:t>semantic_corpus/dialogue_generator/verb_operators.py</a:t>
            </a:r>
          </a:p>
          <a:p>
            <a:r>
              <a:t>semantic_corpus/dialogue_generator/mined_scenarios.py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Примеры иллюстрируют поддерживаемые конструкции, а не полный перебор для каждого глагола. Ручные event_* сценарии выбирают времена и операторные профили. Для mined_predicates исходные распознанные scope, passive и independent clauses могут сохраняться. Общие шаблоны Synthetic corpus по умолчанию не расширяются во все времена.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semantic_corpus/dialogue_generator/event_scenarios.py</a:t>
            </a:r>
          </a:p>
          <a:p>
            <a:r>
              <a:t>semantic_corpus/dialogue_generator/mined_scenarios.py</a:t>
            </a:r>
          </a:p>
          <a:p>
            <a:r>
              <a:t>semantic_corpus/dialogue_generator/mined_scope.py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и History являются парными задачами: один Episode, одинаковый финальный ответ, разный входной контекст. Memory получает память от симулятора (oracle), поэтому качество Memory само по себе не проверяет извлечение. Extraction экспортируется на переходах и дедуплицируется отдельно: её строк может быть больше, чем эпизодов. Все views имеют system/user/assistant messages.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semantic_corpus/dialogue_generator/export.py:response_row</a:t>
            </a:r>
          </a:p>
          <a:p>
            <a:r>
              <a:t>semantic_corpus/dialogue_generator/export.py:extraction_row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Реплика и ответ извлечены при сборке презентации из DialogueGenerator/desire_vs_done. decode_update проверяет, что текст команды даёт ровно эталонный delta. Показана только значимая реплика; полный вход также включает Current memory, Assistant actions и Last assistant message. Это пример исходной плоской задачи. Для типизированных событий используются EVENT/MINED, для сложных цитат — QUOTE.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semantic_corpus/dialogue_generator/extraction_text.py</a:t>
            </a:r>
          </a:p>
          <a:p>
            <a:r>
              <a:t>semantic_corpus/dialogue_generator/export.py:extraction_row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сообщения в примере: system, user, assistant. Спецтокены im_start, im_end, pad добавляются к GPT-2 tokenizer. Loss считается только по финальному ответу assistant и его im_end. System, user, заголовок роли и padding маскируются -100. На слайде инструкции сокращены; это не полный промпт обучения. ID/task/scenario_key внешней записи не передаются в модель.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semantic_corpus/dialogue_generator/trainer/chatml.py</a:t>
            </a:r>
          </a:p>
          <a:p>
            <a:r>
              <a:t>semantic_corpus/dialogue_generator/trainer/engine.py</a:t>
            </a:r>
          </a:p>
          <a:p>
            <a:r>
              <a:t>semantic_corpus/dialogue_generator/export.py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Снимок текущих defaults: train=200, validation=20, test=20 на задачу; user_assistant_only=True, mined_train=0, seed=42, max_length=768, include_metadata=True. При 4031 доступных записях предикатов train=15*200+3*4031=15093, validation=test=16*20=320. Это расчёт квот, не результат нового запуска. Невозможность заполнить квоты после фильтра длины приводит к ошибке. Положительный Mined training dialogues задаёт отдельную точную квоту; пустое поле сохраняет обычную квоту задачи.</a:t>
            </a:r>
          </a:p>
          <a:p/>
          <a:p>
            <a:r>
              <a:t>Источники в проекте:</a:t>
            </a:r>
          </a:p>
          <a:p>
            <a:r>
              <a:t>ui/app_main/chat_dataset.py</a:t>
            </a:r>
          </a:p>
          <a:p>
            <a:r>
              <a:t>semantic_corpus/dialogue_generator/export.py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Каждая из трёх папок содержит train.json, validation.json, test.json — массивы messages. Memory/History имеют по одному целевому ответу на эпизод; Extraction — отдельные строки для переходов, дедуплицированные по prompt. Manifest фиксирует версии, seed, квоты и fingerprints. Эпизодные JSONL сохраняют аудит независимо от Include metadata. Отчёты длины создаются при включённом max_length.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semantic_corpus/dialogue_generator/export.py</a:t>
            </a:r>
          </a:p>
          <a:p>
            <a:r>
              <a:t>ui/app_main/chat_dataset.py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Episode.validate выполняет replay переходов и проверяет итоговый ответ. Генератор и trainer проверяют дубли и пересечения split; задачи, surface patterns и общая лексика при этом могут быть общими. decode_update проверяет формат и применение команд относительно предоставленного состояния. Ограничение 768 относится ко всему ChatML примеру, включая системную инструкцию и ответ; генератор заменяет весь эпизод. Trainer не обрезает слишком длинные записи. Эти проверки не подтверждают качество LLM или семантическую безошибочность намайненного NLP.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semantic_corpus/dialogue_generator/models.py</a:t>
            </a:r>
          </a:p>
          <a:p>
            <a:r>
              <a:t>semantic_corpus/dialogue_generator/export.py</a:t>
            </a:r>
          </a:p>
          <a:p>
            <a:r>
              <a:t>semantic_corpus/dialogue_generator/token_limits.py</a:t>
            </a:r>
          </a:p>
          <a:p>
            <a:r>
              <a:t>semantic_corpus/dialogue_generator/trainer/data.py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Тренер использует стандартный pretrained gpt2 и transformers.Trainer. Показанная команда — пример запуска, а не выполненное обучение. dataset/extraction должна содержать train.json и validation.json; путь назначения должен быть новым. Для GPU нужен соответствующий PyTorch, зависимости requirements-training.txt. Trainer по умолчанию использует max_length=512; для датасета с лимитом 768 явно задаём 768. Для независимого сравнения views начинаем с одинаковых исходных весов. test.json не участвует в выборе лучшего checkpoint.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semantic_corpus/dialogue_generator/trainer/__main__.py</a:t>
            </a:r>
          </a:p>
          <a:p>
            <a:r>
              <a:t>semantic_corpus/dialogue_generator/trainer/engine.py</a:t>
            </a:r>
          </a:p>
          <a:p>
            <a:r>
              <a:t>semantic_corpus/dialogue_generator/trainer/README.md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Memory/History: answer loss, exact match и срезы по task/outcome. Extraction: parse/apply validity, совпадение update и итогового состояния, ложные изменения на NO_CHANGE. Текущая оценка Extraction получает эталонное предыдущее состояние и не измеряет накопление ошибок в длинном автономном диалоге. Следующие эксперименты на слайде являются предложением: контролируемое расширение времён, отдельные отчёты для compositional и quotation, end-to-end оценка Extraction→Memory. Здесь не приведены вымышленные результаты обучения.</a:t>
            </a:r>
          </a:p>
          <a:p/>
          <a:p>
            <a:r>
              <a:t>Источники в проекте:</a:t>
            </a:r>
          </a:p>
          <a:p>
            <a:r>
              <a:t>semantic_corpus/dialogue_generator/trainer/engine.py</a:t>
            </a:r>
          </a:p>
          <a:p>
            <a:r>
              <a:t>semantic_corpus/dialogue_generator/trainer/README.md</a:t>
            </a:r>
          </a:p>
          <a:p/>
          <a:p>
            <a:r>
              <a:t>Снимок реализации: 10 октября 2026. Примеры на слайдах могут быть сокращены для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ПРОЕКТ QA-SRL GEN · 10 ОКТЯБРЯ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37376"/>
            <a:ext cx="733348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D3DFEA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D3DFEA"/>
                </a:solidFill>
                <a:latin typeface="Segoe UI"/>
              </a:defRPr>
            </a:pPr>
            <a:r>
              <a:t>01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6400800" cy="2615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Создание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диалоговых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датасетов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87952"/>
            <a:ext cx="630936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0">
                <a:solidFill>
                  <a:srgbClr val="D3DFEA"/>
                </a:solidFill>
                <a:latin typeface="Segoe UI"/>
              </a:defRPr>
            </a:pPr>
            <a:r>
              <a:t>От семантического события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0">
                <a:solidFill>
                  <a:srgbClr val="D3DFEA"/>
                </a:solidFill>
                <a:latin typeface="Segoe UI"/>
              </a:defRPr>
            </a:pPr>
            <a:r>
              <a:t>до обучающего примера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641848"/>
            <a:ext cx="1207008" cy="310896"/>
          </a:xfrm>
          <a:prstGeom prst="roundRect">
            <a:avLst>
              <a:gd name="adj" fmla="val 12000"/>
            </a:avLst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5641848"/>
            <a:ext cx="106070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2337"/>
                </a:solidFill>
                <a:latin typeface="Segoe UI"/>
              </a:defRPr>
            </a:pPr>
            <a:r>
              <a:t>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2536" y="5641848"/>
            <a:ext cx="1207008" cy="310896"/>
          </a:xfrm>
          <a:prstGeom prst="roundRect">
            <a:avLst>
              <a:gd name="adj" fmla="val 12000"/>
            </a:avLst>
          </a:prstGeom>
          <a:solidFill>
            <a:srgbClr val="97C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688" y="5641848"/>
            <a:ext cx="106070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2337"/>
                </a:solidFill>
                <a:latin typeface="Segoe UI"/>
              </a:defRPr>
            </a:pPr>
            <a:r>
              <a:t>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5641848"/>
            <a:ext cx="1636776" cy="310896"/>
          </a:xfrm>
          <a:prstGeom prst="roundRect">
            <a:avLst>
              <a:gd name="adj" fmla="val 12000"/>
            </a:avLst>
          </a:prstGeom>
          <a:solidFill>
            <a:srgbClr val="FF9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5641848"/>
            <a:ext cx="149047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2337"/>
                </a:solidFill>
                <a:latin typeface="Segoe UI"/>
              </a:defRPr>
            </a:pPr>
            <a:r>
              <a:t>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2631" y="1261872"/>
            <a:ext cx="4096512" cy="4443984"/>
          </a:xfrm>
          <a:prstGeom prst="roundRect">
            <a:avLst>
              <a:gd name="adj" fmla="val 12000"/>
            </a:avLst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1572768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45D6AF"/>
                </a:solidFill>
                <a:latin typeface="Segoe UI"/>
              </a:defRPr>
            </a:pPr>
            <a:r>
              <a:t>ОДНА РЕПЛИКА. ТОЧНЫЙ СМЫСЛ.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2194560"/>
            <a:ext cx="3547872" cy="1014984"/>
          </a:xfrm>
          <a:prstGeom prst="roundRect">
            <a:avLst>
              <a:gd name="adj" fmla="val 12000"/>
            </a:avLst>
          </a:prstGeom>
          <a:solidFill>
            <a:srgbClr val="29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4696" y="2432304"/>
            <a:ext cx="30723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FFFFFF"/>
                </a:solidFill>
                <a:latin typeface="Segoe UI"/>
              </a:defRPr>
            </a:pPr>
            <a:r>
              <a:t>“I want to buy a book.”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6" y="3602736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45D6AF"/>
                </a:solidFill>
                <a:latin typeface="Segoe UI"/>
              </a:defRPr>
            </a:pPr>
            <a:r>
              <a:t>желание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44000" y="3730752"/>
            <a:ext cx="329184" cy="173736"/>
          </a:xfrm>
          <a:prstGeom prst="rightArrow">
            <a:avLst/>
          </a:prstGeom>
          <a:solidFill>
            <a:srgbClr val="D3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72" y="3602736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покупка?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85632" y="4361688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B6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8784" y="4361688"/>
            <a:ext cx="15453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2337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983480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20" b="0">
                <a:solidFill>
                  <a:srgbClr val="D3DFEA"/>
                </a:solidFill>
                <a:latin typeface="Segoe UI"/>
              </a:defRPr>
            </a:pPr>
            <a:r>
              <a:t>Пока нет сообщения о результате.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01 / ЗАЧЕМ НУЖЕН ГЕНЕРАТОР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Один вопрос. Три разных основания для ответа.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Вопрос: “Did I buy a book?” — ответ определяется сообщениями пользователя.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466697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02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3483864" cy="3529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4688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607487"/>
                </a:solidFill>
                <a:latin typeface="Segoe UI"/>
              </a:defRPr>
            </a:pPr>
            <a:r>
              <a:t>ЖЕЛАНИЕ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971800"/>
            <a:ext cx="304495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122337"/>
                </a:solidFill>
                <a:latin typeface="Segoe UI"/>
              </a:defRPr>
            </a:pPr>
            <a:r>
              <a:t>I want to buy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122337"/>
                </a:solidFill>
                <a:latin typeface="Segoe UI"/>
              </a:defRPr>
            </a:pPr>
            <a:r>
              <a:t>a 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43434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607487"/>
                </a:solidFill>
                <a:latin typeface="Segoe UI"/>
              </a:defRPr>
            </a:pPr>
            <a:r>
              <a:t>О результате пока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607487"/>
                </a:solidFill>
                <a:latin typeface="Segoe UI"/>
              </a:defRPr>
            </a:pPr>
            <a:r>
              <a:t>ничего не сообщено.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" y="5157216"/>
            <a:ext cx="1307592" cy="310896"/>
          </a:xfrm>
          <a:prstGeom prst="roundRect">
            <a:avLst>
              <a:gd name="adj" fmla="val 12000"/>
            </a:avLst>
          </a:prstGeom>
          <a:solidFill>
            <a:srgbClr val="B6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157216"/>
            <a:ext cx="116128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2337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194560"/>
            <a:ext cx="3483864" cy="3529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607487"/>
                </a:solidFill>
                <a:latin typeface="Segoe UI"/>
              </a:defRPr>
            </a:pPr>
            <a:r>
              <a:t>ОТРИЦАНИЕ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71800"/>
            <a:ext cx="304495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122337"/>
                </a:solidFill>
                <a:latin typeface="Segoe UI"/>
              </a:defRPr>
            </a:pPr>
            <a:r>
              <a:t>I didn’t buy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122337"/>
                </a:solidFill>
                <a:latin typeface="Segoe UI"/>
              </a:defRPr>
            </a:pPr>
            <a:r>
              <a:t>a book.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434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607487"/>
                </a:solidFill>
                <a:latin typeface="Segoe UI"/>
              </a:defRPr>
            </a:pPr>
            <a:r>
              <a:t>Пользователь явно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607487"/>
                </a:solidFill>
                <a:latin typeface="Segoe UI"/>
              </a:defRPr>
            </a:pPr>
            <a:r>
              <a:t>отрицает покупку.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157216"/>
            <a:ext cx="1307592" cy="310896"/>
          </a:xfrm>
          <a:prstGeom prst="roundRect">
            <a:avLst>
              <a:gd name="adj" fmla="val 12000"/>
            </a:avLst>
          </a:prstGeom>
          <a:solidFill>
            <a:srgbClr val="FF9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5157216"/>
            <a:ext cx="116128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2337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7" y="2194560"/>
            <a:ext cx="3483864" cy="3529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24688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607487"/>
                </a:solidFill>
                <a:latin typeface="Segoe UI"/>
              </a:defRPr>
            </a:pPr>
            <a:r>
              <a:t>СООБЩЕНИЕ О ПОКУПКЕ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2971800"/>
            <a:ext cx="304495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122337"/>
                </a:solidFill>
                <a:latin typeface="Segoe UI"/>
              </a:defRPr>
            </a:pPr>
            <a:r>
              <a:t>I bought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122337"/>
                </a:solidFill>
                <a:latin typeface="Segoe UI"/>
              </a:defRPr>
            </a:pPr>
            <a:r>
              <a:t>a book.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43434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607487"/>
                </a:solidFill>
                <a:latin typeface="Segoe UI"/>
              </a:defRPr>
            </a:pPr>
            <a:r>
              <a:t>Пользователь явно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50" b="0">
                <a:solidFill>
                  <a:srgbClr val="607487"/>
                </a:solidFill>
                <a:latin typeface="Segoe UI"/>
              </a:defRPr>
            </a:pPr>
            <a:r>
              <a:t>сообщает о покупке.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3" y="5157216"/>
            <a:ext cx="1307592" cy="310896"/>
          </a:xfrm>
          <a:prstGeom prst="roundRect">
            <a:avLst>
              <a:gd name="adj" fmla="val 12000"/>
            </a:avLst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5157216"/>
            <a:ext cx="116128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2337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971032"/>
            <a:ext cx="1095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1F344B"/>
                </a:solidFill>
                <a:latin typeface="Segoe UI"/>
              </a:defRPr>
            </a:pPr>
            <a:r>
              <a:t>Контрастные примеры учат различать смысл, даже когда слова почти одинаковые.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02 / ОБЩАЯ СХЕМА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Сначала состояние. Затем реплики и ответы.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Симулятор создаёт ситуацию, изменения памяти и эталонный ответ вместе.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2200046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03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95728"/>
            <a:ext cx="2039112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624328"/>
            <a:ext cx="438912" cy="438912"/>
          </a:xfrm>
          <a:prstGeom prst="ellipse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697480"/>
            <a:ext cx="4389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22337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46120"/>
            <a:ext cx="1673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122337"/>
                </a:solidFill>
                <a:latin typeface="Segoe UI"/>
              </a:defRPr>
            </a:pPr>
            <a:r>
              <a:t>Ресурсы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767328"/>
            <a:ext cx="167335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сущности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фреймы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шаблоны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51760" y="3474720"/>
            <a:ext cx="164592" cy="173736"/>
          </a:xfrm>
          <a:prstGeom prst="rightArrow">
            <a:avLst/>
          </a:prstGeom>
          <a:solidFill>
            <a:srgbClr val="60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25496" y="2395728"/>
            <a:ext cx="2039112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26664" y="2624328"/>
            <a:ext cx="438912" cy="438912"/>
          </a:xfrm>
          <a:prstGeom prst="ellipse">
            <a:avLst/>
          </a:prstGeom>
          <a:solidFill>
            <a:srgbClr val="97C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26664" y="2697480"/>
            <a:ext cx="4389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22337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3246120"/>
            <a:ext cx="1673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122337"/>
                </a:solidFill>
                <a:latin typeface="Segoe UI"/>
              </a:defRPr>
            </a:pPr>
            <a:r>
              <a:t>Сценарий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3767328"/>
            <a:ext cx="167335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задача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участники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условия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82896" y="3474720"/>
            <a:ext cx="164592" cy="173736"/>
          </a:xfrm>
          <a:prstGeom prst="rightArrow">
            <a:avLst/>
          </a:prstGeom>
          <a:solidFill>
            <a:srgbClr val="60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56632" y="2395728"/>
            <a:ext cx="2039112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57800" y="2624328"/>
            <a:ext cx="438912" cy="438912"/>
          </a:xfrm>
          <a:prstGeom prst="ellipse">
            <a:avLst/>
          </a:prstGeom>
          <a:solidFill>
            <a:srgbClr val="B6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697480"/>
            <a:ext cx="4389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22337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246120"/>
            <a:ext cx="1673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122337"/>
                </a:solidFill>
                <a:latin typeface="Segoe UI"/>
              </a:defRPr>
            </a:pPr>
            <a:r>
              <a:t>Память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767328"/>
            <a:ext cx="167335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факты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события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изменения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14032" y="3474720"/>
            <a:ext cx="164592" cy="173736"/>
          </a:xfrm>
          <a:prstGeom prst="rightArrow">
            <a:avLst/>
          </a:prstGeom>
          <a:solidFill>
            <a:srgbClr val="60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87768" y="2395728"/>
            <a:ext cx="2039112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88936" y="2624328"/>
            <a:ext cx="438912" cy="438912"/>
          </a:xfrm>
          <a:prstGeom prst="ellipse">
            <a:avLst/>
          </a:prstGeom>
          <a:solidFill>
            <a:srgbClr val="FF9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8936" y="2697480"/>
            <a:ext cx="4389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22337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246120"/>
            <a:ext cx="1673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122337"/>
                </a:solidFill>
                <a:latin typeface="Segoe UI"/>
              </a:defRPr>
            </a:pPr>
            <a:r>
              <a:t>Диалог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3767328"/>
            <a:ext cx="167335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реплики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вопрос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ответ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45168" y="3474720"/>
            <a:ext cx="164592" cy="173736"/>
          </a:xfrm>
          <a:prstGeom prst="rightArrow">
            <a:avLst/>
          </a:prstGeom>
          <a:solidFill>
            <a:srgbClr val="60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18904" y="2395728"/>
            <a:ext cx="2039112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20072" y="2624328"/>
            <a:ext cx="438912" cy="438912"/>
          </a:xfrm>
          <a:prstGeom prst="ellipse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0072" y="2697480"/>
            <a:ext cx="4389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22337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72" y="3246120"/>
            <a:ext cx="1673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122337"/>
                </a:solidFill>
                <a:latin typeface="Segoe UI"/>
              </a:defRPr>
            </a:pPr>
            <a:r>
              <a:t>Датасеты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767328"/>
            <a:ext cx="167335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Memory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History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607487"/>
                </a:solidFill>
                <a:latin typeface="Segoe UI"/>
              </a:defRPr>
            </a:pPr>
            <a:r>
              <a:t>Extraction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266944"/>
            <a:ext cx="11000232" cy="822960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522976"/>
            <a:ext cx="104515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Проверяем весь переход:  память до → реплика → изменение → память после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03 /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Один Built-in pool объединяет источники данных.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Ручные правила дают контроль; майнинг расширяет словарь и разнообразие конструкций.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2933395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04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76272"/>
            <a:ext cx="3474720" cy="2798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359152"/>
            <a:ext cx="41148" cy="493776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РУЧНЫЕ РЕСУРСЫ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852928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122337"/>
                </a:solidFill>
                <a:latin typeface="Segoe UI"/>
              </a:defRPr>
            </a:pPr>
            <a:r>
              <a:t>Фреймы + сущности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822191"/>
            <a:ext cx="307238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Типы и роли участников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Допустимые заполнения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Правила построения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76272"/>
            <a:ext cx="3474720" cy="2798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359152"/>
            <a:ext cx="41148" cy="493776"/>
          </a:xfrm>
          <a:prstGeom prst="rect">
            <a:avLst/>
          </a:prstGeom>
          <a:solidFill>
            <a:srgbClr val="B6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95728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НАМАЙНЕННЫЕ РЕСУРСЫ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852928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122337"/>
                </a:solidFill>
                <a:latin typeface="Segoe UI"/>
              </a:defRPr>
            </a:pPr>
            <a:r>
              <a:t>4 031 записи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3822191"/>
            <a:ext cx="307238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Глаголы и конструкции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Исходные сочетания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Синтаксические связи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176272"/>
            <a:ext cx="3474720" cy="2798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2359152"/>
            <a:ext cx="41148" cy="493776"/>
          </a:xfrm>
          <a:prstGeom prst="rect">
            <a:avLst/>
          </a:prstGeom>
          <a:solidFill>
            <a:srgbClr val="97C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395728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МОРФОЛОГИЯ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52928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122337"/>
                </a:solidFill>
                <a:latin typeface="Segoe UI"/>
              </a:defRPr>
            </a:pPr>
            <a:r>
              <a:t>Формы глаголов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22191"/>
            <a:ext cx="3072384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Wiktionary + правила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Неправильные формы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Частицы и предлоги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257800"/>
            <a:ext cx="11000232" cy="850392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47725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39" b="1">
                <a:solidFill>
                  <a:srgbClr val="FFFFFF"/>
                </a:solidFill>
                <a:latin typeface="Segoe UI"/>
              </a:defRPr>
            </a:pPr>
            <a:r>
              <a:t>Поддерживаемый разбор → событие. Неоднозначный разбор → цитата источника.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83387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D3DFEA"/>
                </a:solidFill>
                <a:latin typeface="Segoe UI"/>
              </a:defRPr>
            </a:pPr>
            <a:r>
              <a:t>Автоматические семантические кандидаты сохраняют статус UNREVIEWED.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04 / ЧЕМУ УЧИМ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17 задач покрывают память, контекст и события.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В профиле User and assistant only — 16 задач: исключена different_people.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3666744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05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76272"/>
            <a:ext cx="3474720" cy="3648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359152"/>
            <a:ext cx="41148" cy="493776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07 ЗАДАЧ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852928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122337"/>
                </a:solidFill>
                <a:latin typeface="Segoe UI"/>
              </a:defRPr>
            </a:pPr>
            <a:r>
              <a:t>Факты и память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822191"/>
            <a:ext cx="3072384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Вспомнить и исправить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Учесть отрицание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Различить людей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Вернуться к теме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Отозвать факт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Признать неизвестное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76272"/>
            <a:ext cx="3474720" cy="3648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359152"/>
            <a:ext cx="41148" cy="493776"/>
          </a:xfrm>
          <a:prstGeom prst="rect">
            <a:avLst/>
          </a:prstGeom>
          <a:solidFill>
            <a:srgbClr val="97C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95728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04 ЗАДАЧИ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852928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122337"/>
                </a:solidFill>
                <a:latin typeface="Segoe UI"/>
              </a:defRPr>
            </a:pPr>
            <a:r>
              <a:t>Диалоговый контекст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3822191"/>
            <a:ext cx="3072384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Понять «первый вариант»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Уточнить неоднозначность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Учесть предложение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Соблюдать ограничения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возможностей ассистента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176272"/>
            <a:ext cx="3474720" cy="3648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2359152"/>
            <a:ext cx="41148" cy="493776"/>
          </a:xfrm>
          <a:prstGeom prst="rect">
            <a:avLst/>
          </a:prstGeom>
          <a:solidFill>
            <a:srgbClr val="FF9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395728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06 ЗАДАЧ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52928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122337"/>
                </a:solidFill>
                <a:latin typeface="Segoe UI"/>
              </a:defRPr>
            </a:pPr>
            <a:r>
              <a:t>Действия и состояния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22191"/>
            <a:ext cx="3072384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Желание и выполнение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Область операторов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Ход действия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Исправление событий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Владение и локация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Намайненные предикаты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05 / СМЫСЛ СОБЫТИЯ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Из чего состоит событие?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D3DFEA"/>
                </a:solidFill>
                <a:latin typeface="Segoe UI"/>
              </a:defRPr>
            </a:pPr>
            <a:r>
              <a:t>Пример: “I wanted to pick up a book.” — желание в прошлом, результат неизвестен.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4400092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D3DFEA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D3DFEA"/>
                </a:solidFill>
                <a:latin typeface="Segoe UI"/>
              </a:defRPr>
            </a:pPr>
            <a:r>
              <a:t>06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12848"/>
            <a:ext cx="3474720" cy="1389888"/>
          </a:xfrm>
          <a:prstGeom prst="roundRect">
            <a:avLst>
              <a:gd name="adj" fmla="val 12000"/>
            </a:avLst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9572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ПРЕДИКАТ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807208"/>
            <a:ext cx="30632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pick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6440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D3DFEA"/>
                </a:solidFill>
                <a:latin typeface="Segoe UI"/>
              </a:defRPr>
            </a:pPr>
            <a:r>
              <a:t>действие + частица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2212848"/>
            <a:ext cx="3474720" cy="1389888"/>
          </a:xfrm>
          <a:prstGeom prst="roundRect">
            <a:avLst>
              <a:gd name="adj" fmla="val 12000"/>
            </a:avLst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39572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97CDF8"/>
                </a:solidFill>
                <a:latin typeface="Segoe UI"/>
              </a:defRPr>
            </a:pPr>
            <a:r>
              <a:t>УЧАСТНИКИ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07208"/>
            <a:ext cx="30632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user → a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26440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D3DFEA"/>
                </a:solidFill>
                <a:latin typeface="Segoe UI"/>
              </a:defRPr>
            </a:pPr>
            <a:r>
              <a:t>субъект и объект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8" y="2212848"/>
            <a:ext cx="3474720" cy="1389888"/>
          </a:xfrm>
          <a:prstGeom prst="roundRect">
            <a:avLst>
              <a:gd name="adj" fmla="val 12000"/>
            </a:avLst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39572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FF936D"/>
                </a:solidFill>
                <a:latin typeface="Segoe UI"/>
              </a:defRPr>
            </a:pPr>
            <a:r>
              <a:t>ОПЕРАТОР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807208"/>
            <a:ext cx="30632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want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26440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D3DFEA"/>
                </a:solidFill>
                <a:latin typeface="Segoe UI"/>
              </a:defRPr>
            </a:pPr>
            <a:r>
              <a:t>желание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58768"/>
            <a:ext cx="3474720" cy="1389888"/>
          </a:xfrm>
          <a:prstGeom prst="roundRect">
            <a:avLst>
              <a:gd name="adj" fmla="val 12000"/>
            </a:avLst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04164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B6A7FF"/>
                </a:solidFill>
                <a:latin typeface="Segoe UI"/>
              </a:defRPr>
            </a:pPr>
            <a:r>
              <a:t>ВРЕМЯ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453128"/>
            <a:ext cx="30632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past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910327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D3DFEA"/>
                </a:solidFill>
                <a:latin typeface="Segoe UI"/>
              </a:defRPr>
            </a:pPr>
            <a:r>
              <a:t>когда выражено желание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858768"/>
            <a:ext cx="3474720" cy="1389888"/>
          </a:xfrm>
          <a:prstGeom prst="roundRect">
            <a:avLst>
              <a:gd name="adj" fmla="val 12000"/>
            </a:avLst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404164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ФАЗА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453128"/>
            <a:ext cx="30632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unspecified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910327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D3DFEA"/>
                </a:solidFill>
                <a:latin typeface="Segoe UI"/>
              </a:defRPr>
            </a:pPr>
            <a:r>
              <a:t>выполнение не установлено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0728" y="3858768"/>
            <a:ext cx="3474720" cy="1389888"/>
          </a:xfrm>
          <a:prstGeom prst="roundRect">
            <a:avLst>
              <a:gd name="adj" fmla="val 12000"/>
            </a:avLst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404164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97CDF8"/>
                </a:solidFill>
                <a:latin typeface="Segoe UI"/>
              </a:defRPr>
            </a:pPr>
            <a:r>
              <a:t>ОСНОВАНИЕ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453128"/>
            <a:ext cx="30632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50" b="1">
                <a:solidFill>
                  <a:srgbClr val="FFFFFF"/>
                </a:solidFill>
                <a:latin typeface="Segoe UI"/>
              </a:defRPr>
            </a:pPr>
            <a:r>
              <a:t>реплика пользователя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4910327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D3DFEA"/>
                </a:solidFill>
                <a:latin typeface="Segoe UI"/>
              </a:defRPr>
            </a:pPr>
            <a:r>
              <a:t>точная связь с источником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833872"/>
            <a:ext cx="1095451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45D6AF"/>
                </a:solidFill>
                <a:latin typeface="Segoe UI"/>
              </a:defRPr>
            </a:pPr>
            <a:r>
              <a:t>Время, модальность и выполнение — самостоятельные признаки.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06 / КОНСТРУКЦИИ И ВРЕМЕНА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Меняем грамматику и сохраняем различия смысла.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Настоящее, прошедшее и будущее используются в поддерживаемых диалоговых сценариях.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5133441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07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21408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40279"/>
            <a:ext cx="50292" cy="265176"/>
          </a:xfrm>
          <a:prstGeom prst="rect">
            <a:avLst/>
          </a:prstGeom>
          <a:solidFill>
            <a:srgbClr val="B6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221991"/>
            <a:ext cx="6172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1F344B"/>
                </a:solidFill>
                <a:latin typeface="Segoe UI"/>
              </a:defRPr>
            </a:pPr>
            <a:r>
              <a:t>I want to buy a 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49424"/>
            <a:ext cx="37947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07487"/>
                </a:solidFill>
                <a:latin typeface="Segoe UI"/>
              </a:defRPr>
            </a:pPr>
            <a:r>
              <a:t>желание сейчас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61487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880359"/>
            <a:ext cx="50292" cy="265176"/>
          </a:xfrm>
          <a:prstGeom prst="rect">
            <a:avLst/>
          </a:prstGeom>
          <a:solidFill>
            <a:srgbClr val="B6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862071"/>
            <a:ext cx="6172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1F344B"/>
                </a:solidFill>
                <a:latin typeface="Segoe UI"/>
              </a:defRPr>
            </a:pPr>
            <a:r>
              <a:t>I wanted to buy a book.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889503"/>
            <a:ext cx="37947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07487"/>
                </a:solidFill>
                <a:latin typeface="Segoe UI"/>
              </a:defRPr>
            </a:pPr>
            <a:r>
              <a:t>желание в прошлом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01568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20439"/>
            <a:ext cx="50292" cy="265176"/>
          </a:xfrm>
          <a:prstGeom prst="rect">
            <a:avLst/>
          </a:prstGeom>
          <a:solidFill>
            <a:srgbClr val="97C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502151"/>
            <a:ext cx="6172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1F344B"/>
                </a:solidFill>
                <a:latin typeface="Segoe UI"/>
              </a:defRPr>
            </a:pPr>
            <a:r>
              <a:t>I will buy a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529584"/>
            <a:ext cx="37947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07487"/>
                </a:solidFill>
                <a:latin typeface="Segoe UI"/>
              </a:defRPr>
            </a:pPr>
            <a:r>
              <a:t>будущее действие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041648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160520"/>
            <a:ext cx="50292" cy="265176"/>
          </a:xfrm>
          <a:prstGeom prst="rect">
            <a:avLst/>
          </a:prstGeom>
          <a:solidFill>
            <a:srgbClr val="FF9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4142232"/>
            <a:ext cx="6172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1F344B"/>
                </a:solidFill>
                <a:latin typeface="Segoe UI"/>
              </a:defRPr>
            </a:pPr>
            <a:r>
              <a:t>I am buying a book.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169663"/>
            <a:ext cx="37947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07487"/>
                </a:solidFill>
                <a:latin typeface="Segoe UI"/>
              </a:defRPr>
            </a:pPr>
            <a:r>
              <a:t>действие в процессе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681727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800599"/>
            <a:ext cx="50292" cy="265176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4782312"/>
            <a:ext cx="6172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1F344B"/>
                </a:solidFill>
                <a:latin typeface="Segoe UI"/>
              </a:defRPr>
            </a:pPr>
            <a:r>
              <a:t>I bought a book.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809743"/>
            <a:ext cx="37947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07487"/>
                </a:solidFill>
                <a:latin typeface="Segoe UI"/>
              </a:defRPr>
            </a:pPr>
            <a:r>
              <a:t>сообщение о покупке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596128"/>
            <a:ext cx="11000232" cy="594360"/>
          </a:xfrm>
          <a:prstGeom prst="roundRect">
            <a:avLst>
              <a:gd name="adj" fmla="val 12000"/>
            </a:avLst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79008"/>
            <a:ext cx="10570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20" b="1">
                <a:solidFill>
                  <a:srgbClr val="122337"/>
                </a:solidFill>
                <a:latin typeface="Segoe UI"/>
              </a:defRPr>
            </a:pPr>
            <a:r>
              <a:t>Полный перебор «каждый глагол × каждое допустимое время» пока не реализован.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07 / ТРИ ПРЕДСТАВЛЕНИЯ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Один эпизод даёт три учебные задачи.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Memory и History отвечают на вопрос. Extraction обновляет состояние.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5866790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08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76272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359152"/>
            <a:ext cx="41148" cy="493776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ОТВЕТ ПО ПАМЯТИ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852928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122337"/>
                </a:solidFill>
                <a:latin typeface="Segoe UI"/>
              </a:defRPr>
            </a:pPr>
            <a: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822191"/>
            <a:ext cx="307238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Эталонная память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+ последняя реплика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→ естественный ответ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76272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359152"/>
            <a:ext cx="41148" cy="493776"/>
          </a:xfrm>
          <a:prstGeom prst="rect">
            <a:avLst/>
          </a:prstGeom>
          <a:solidFill>
            <a:srgbClr val="97C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95728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ОТВЕТ ПО ИСТОРИИ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852928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122337"/>
                </a:solidFill>
                <a:latin typeface="Segoe UI"/>
              </a:defRPr>
            </a:pPr>
            <a:r>
              <a:t>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3822191"/>
            <a:ext cx="307238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Предыдущие реплики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+ последняя реплика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→ тот же ответ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176272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2359152"/>
            <a:ext cx="41148" cy="493776"/>
          </a:xfrm>
          <a:prstGeom prst="rect">
            <a:avLst/>
          </a:prstGeom>
          <a:solidFill>
            <a:srgbClr val="FF9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395728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ОБНОВЛЕНИЕ ПАМЯТИ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52928"/>
            <a:ext cx="30723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122337"/>
                </a:solidFill>
                <a:latin typeface="Segoe UI"/>
              </a:defRPr>
            </a:pPr>
            <a:r>
              <a:t>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22191"/>
            <a:ext cx="307238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Память до + контекст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+ новая реплика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10" b="0">
                <a:solidFill>
                  <a:srgbClr val="607487"/>
                </a:solidFill>
                <a:latin typeface="Segoe UI"/>
              </a:defRPr>
            </a:pPr>
            <a:r>
              <a:t>→ команды изменений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833872"/>
            <a:ext cx="10881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F344B"/>
                </a:solidFill>
                <a:latin typeface="Segoe UI"/>
              </a:defRPr>
            </a:pPr>
            <a:r>
              <a:t>Memory оценивается с готовой памятью; ошибки Extraction нужно измерять отдельно.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08 / EXTRACTION НА ПРАКТИКЕ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Модель пишет команду. Код применяет изменение.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Реальный пример генератора: желание о покупке сохраняется в своём канале.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6600139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09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5102352" cy="1069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95728"/>
            <a:ext cx="4599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НОВАЯ РЕПЛИКА ПОЛЬЗОВАТЕЛЯ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52344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122337"/>
                </a:solidFill>
                <a:latin typeface="Segoe UI"/>
              </a:defRPr>
            </a:pPr>
            <a:r>
              <a:t>I hope to buy a book.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79592" y="2679192"/>
            <a:ext cx="420624" cy="173736"/>
          </a:xfrm>
          <a:prstGeom prst="rightArrow">
            <a:avLst/>
          </a:prstGeom>
          <a:solidFill>
            <a:srgbClr val="60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0528" y="2194560"/>
            <a:ext cx="5084064" cy="1069848"/>
          </a:xfrm>
          <a:prstGeom prst="roundRect">
            <a:avLst>
              <a:gd name="adj" fmla="val 12000"/>
            </a:avLst>
          </a:prstGeom>
          <a:solidFill>
            <a:srgbClr val="E2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7416" y="2395728"/>
            <a:ext cx="45902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СМЫСЛ ИЗМЕНЕНИЯ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2761488"/>
            <a:ext cx="4590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50" b="1">
                <a:solidFill>
                  <a:srgbClr val="122337"/>
                </a:solidFill>
                <a:latin typeface="Segoe UI"/>
              </a:defRPr>
            </a:pPr>
            <a:r>
              <a:t>Добавить желание купить книгу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02736"/>
            <a:ext cx="11000232" cy="1060704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776472"/>
            <a:ext cx="10332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ASSISTANT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187952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20" b="0">
                <a:solidFill>
                  <a:srgbClr val="FFFFFF"/>
                </a:solidFill>
                <a:latin typeface="Consolas"/>
              </a:defRPr>
            </a:pPr>
            <a:r>
              <a:t>SET user | bought | desired | positive | a 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056632"/>
            <a:ext cx="34472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F344B"/>
                </a:solidFill>
                <a:latin typeface="Segoe UI"/>
              </a:defRPr>
            </a:pPr>
            <a:r>
              <a:t>SET / REMOVE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5458968"/>
            <a:ext cx="411480" cy="36576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632704"/>
            <a:ext cx="33741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50" b="0">
                <a:solidFill>
                  <a:srgbClr val="607487"/>
                </a:solidFill>
                <a:latin typeface="Segoe UI"/>
              </a:defRPr>
            </a:pPr>
            <a:r>
              <a:t>добавить, заменить или отозвать факт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056632"/>
            <a:ext cx="34472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F344B"/>
                </a:solidFill>
                <a:latin typeface="Segoe UI"/>
              </a:defRPr>
            </a:pPr>
            <a:r>
              <a:t>EVENT / MINED / QUOTE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5458968"/>
            <a:ext cx="411480" cy="36576"/>
          </a:xfrm>
          <a:prstGeom prst="rect">
            <a:avLst/>
          </a:prstGeom>
          <a:solidFill>
            <a:srgbClr val="97C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5632704"/>
            <a:ext cx="33741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50" b="0">
                <a:solidFill>
                  <a:srgbClr val="607487"/>
                </a:solidFill>
                <a:latin typeface="Segoe UI"/>
              </a:defRPr>
            </a:pPr>
            <a:r>
              <a:t>события и исходные формулировки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5056632"/>
            <a:ext cx="34472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F344B"/>
                </a:solidFill>
                <a:latin typeface="Segoe UI"/>
              </a:defRPr>
            </a:pPr>
            <a:r>
              <a:t>NO_CHANGE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5458968"/>
            <a:ext cx="411480" cy="36576"/>
          </a:xfrm>
          <a:prstGeom prst="rect">
            <a:avLst/>
          </a:prstGeom>
          <a:solidFill>
            <a:srgbClr val="FF9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4" y="5632704"/>
            <a:ext cx="33741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50" b="0">
                <a:solidFill>
                  <a:srgbClr val="607487"/>
                </a:solidFill>
                <a:latin typeface="Segoe UI"/>
              </a:defRPr>
            </a:pPr>
            <a:r>
              <a:t>вопросы, благодарности, нет новых фактов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09 / ФОРМАТ ОБУЧЕНИЯ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ChatML задаёт роли. SFT обучает ответ ассистента.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D3DFEA"/>
                </a:solidFill>
                <a:latin typeface="Segoe UI"/>
              </a:defRPr>
            </a:pPr>
            <a:r>
              <a:t>JSON хранит датасет снаружи; внутри content — обычный текст или команды Extraction.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7333488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D3DFEA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D3DFEA"/>
                </a:solidFill>
                <a:latin typeface="Segoe UI"/>
              </a:defRPr>
            </a:pPr>
            <a:r>
              <a:t>10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03704"/>
            <a:ext cx="7077456" cy="3639312"/>
          </a:xfrm>
          <a:prstGeom prst="roundRect">
            <a:avLst>
              <a:gd name="adj" fmla="val 12000"/>
            </a:avLst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505456"/>
            <a:ext cx="6537960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D3DFEA"/>
                </a:solidFill>
                <a:latin typeface="Consolas"/>
              </a:defRPr>
            </a:pPr>
            <a:r>
              <a:t>&lt;|im_start|&gt;system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D3DFEA"/>
                </a:solidFill>
                <a:latin typeface="Consolas"/>
              </a:defRPr>
            </a:pPr>
            <a:r>
              <a:t>[инструкция задачи]&lt;|im_end|&gt;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D3DFEA"/>
                </a:solidFill>
                <a:latin typeface="Consolas"/>
              </a:defRPr>
            </a:pPr>
            <a:r>
              <a:t>&lt;|im_start|&gt;user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D3DFEA"/>
                </a:solidFill>
                <a:latin typeface="Consolas"/>
              </a:defRPr>
            </a:pPr>
            <a:r>
              <a:t>[контекст + новая реплика]&lt;|im_end|&gt;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D3DFEA"/>
                </a:solidFill>
                <a:latin typeface="Consolas"/>
              </a:defRPr>
            </a:pPr>
            <a:r>
              <a:t>&lt;|im_start|&gt;assistant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46904"/>
            <a:ext cx="6620256" cy="557784"/>
          </a:xfrm>
          <a:prstGeom prst="roundRect">
            <a:avLst>
              <a:gd name="adj" fmla="val 12000"/>
            </a:avLst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5102352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122337"/>
                </a:solidFill>
                <a:latin typeface="Consolas"/>
              </a:defRPr>
            </a:pPr>
            <a:r>
              <a:t>[целевой ответ]&lt;|im_end|&gt;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532888"/>
            <a:ext cx="309981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97CDF8"/>
                </a:solidFill>
                <a:latin typeface="Segoe UI"/>
              </a:defRPr>
            </a:pPr>
            <a:r>
              <a:t>КОНТЕКСТ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3008376"/>
            <a:ext cx="309067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Читается моделью.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Loss не начисляется.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4325112"/>
            <a:ext cx="309981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45D6AF"/>
                </a:solidFill>
                <a:latin typeface="Segoe UI"/>
              </a:defRPr>
            </a:pPr>
            <a:r>
              <a:t>ОТВЕТ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809744"/>
            <a:ext cx="309067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Только этот участок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получает SFT-loss.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10 / ЗАПУСК ГЕНЕРАЦИИ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Chat dataset: параметры определяют объём.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Pipeline → Chat dataset · /chat-dataset · настройки UI по умолчанию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8066836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11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21408"/>
            <a:ext cx="6510528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40279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07487"/>
                </a:solidFill>
                <a:latin typeface="Segoe UI"/>
              </a:defRPr>
            </a:pPr>
            <a:r>
              <a:t>Training / Validation /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42032"/>
            <a:ext cx="5056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607487"/>
                </a:solidFill>
                <a:latin typeface="Segoe UI"/>
              </a:defRPr>
            </a:pPr>
            <a:r>
              <a:t>на каждую задачу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12848"/>
            <a:ext cx="225856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122337"/>
                </a:solidFill>
                <a:latin typeface="Segoe UI"/>
              </a:defRPr>
            </a:pPr>
            <a:r>
              <a:t>200 / 20 / 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99232"/>
            <a:ext cx="6510528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18103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07487"/>
                </a:solidFill>
                <a:latin typeface="Segoe UI"/>
              </a:defRPr>
            </a:pPr>
            <a:r>
              <a:t>Mined training dialogues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419856"/>
            <a:ext cx="5056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607487"/>
                </a:solidFill>
                <a:latin typeface="Segoe UI"/>
              </a:defRPr>
            </a:pPr>
            <a:r>
              <a:t>три исхода для каждого предиката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90672"/>
            <a:ext cx="225856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12233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77056"/>
            <a:ext cx="6510528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99592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07487"/>
                </a:solidFill>
                <a:latin typeface="Segoe UI"/>
              </a:defRPr>
            </a:pPr>
            <a:r>
              <a:t>Maximum example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297680"/>
            <a:ext cx="5056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607487"/>
                </a:solidFill>
                <a:latin typeface="Segoe UI"/>
              </a:defRPr>
            </a:pPr>
            <a:r>
              <a:t>весь пример в GPT-2 ChatML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968496"/>
            <a:ext cx="225856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122337"/>
                </a:solidFill>
                <a:latin typeface="Segoe UI"/>
              </a:defRPr>
            </a:pPr>
            <a:r>
              <a:t>768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754879"/>
            <a:ext cx="6510528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73751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07487"/>
                </a:solidFill>
                <a:latin typeface="Segoe UI"/>
              </a:defRPr>
            </a:pPr>
            <a:r>
              <a:t>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175503"/>
            <a:ext cx="5056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607487"/>
                </a:solidFill>
                <a:latin typeface="Segoe UI"/>
              </a:defRPr>
            </a:pPr>
            <a:r>
              <a:t>воспроизводимость при тех же ресурсах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846319"/>
            <a:ext cx="225856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12233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88352" y="2121408"/>
            <a:ext cx="4206240" cy="3392424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2414016"/>
            <a:ext cx="3703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РАСЧЁТ TRAIN-КВОТЫ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953512"/>
            <a:ext cx="3703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4900" b="1">
                <a:solidFill>
                  <a:srgbClr val="FFFFFF"/>
                </a:solidFill>
                <a:latin typeface="Segoe UI"/>
              </a:defRPr>
            </a:pPr>
            <a:r>
              <a:t>15 093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904487"/>
            <a:ext cx="3703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D3DFEA"/>
                </a:solidFill>
                <a:latin typeface="Segoe UI"/>
              </a:defRPr>
            </a:pPr>
            <a:r>
              <a:t>15 × 200 + 3 × 4 031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645152"/>
            <a:ext cx="370332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D3DFEA"/>
                </a:solidFill>
                <a:latin typeface="Segoe UI"/>
              </a:defRPr>
            </a:pPr>
            <a:r>
              <a:t>эпизодов при текущем инвентаре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D3DFEA"/>
                </a:solidFill>
                <a:latin typeface="Segoe UI"/>
              </a:defRPr>
            </a:pPr>
            <a:r>
              <a:t>Validation / Test: 320 / 320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989320"/>
            <a:ext cx="1094536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60" b="0">
                <a:solidFill>
                  <a:srgbClr val="607487"/>
                </a:solidFill>
                <a:latin typeface="Segoe UI"/>
              </a:defRPr>
            </a:pPr>
            <a:r>
              <a:t>Include metadata управляет служебными полями; содержание messages остаётся тем же.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11 / РЕЗУЛЬТАТ ГЕНЕРАЦИИ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Три датасета и отчёты для проверки.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UI сохраняет файлы в artifacts/ui/jobs/&lt;ID&gt;/dataset/ и собирает chat-dataset.zip.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8800185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12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5020056" cy="3575304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23744"/>
            <a:ext cx="4443984" cy="2807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dataset/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memory/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train · validation · test.json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history/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train · validation · test.json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extraction/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train · validation · test.json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9904" y="2276856"/>
            <a:ext cx="5230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F344B"/>
                </a:solidFill>
                <a:latin typeface="Segoe UI"/>
              </a:defRPr>
            </a:pPr>
            <a:r>
              <a:t>manifest.json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9904" y="2670048"/>
            <a:ext cx="52303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07487"/>
                </a:solidFill>
                <a:latin typeface="Segoe UI"/>
              </a:defRPr>
            </a:pPr>
            <a:r>
              <a:t>Параметры, версии, квоты и ресурсы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3172968"/>
            <a:ext cx="5230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F344B"/>
                </a:solidFill>
                <a:latin typeface="Segoe UI"/>
              </a:defRPr>
            </a:pPr>
            <a:r>
              <a:t>*.episodes.jsonl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3566160"/>
            <a:ext cx="52303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07487"/>
                </a:solidFill>
                <a:latin typeface="Segoe UI"/>
              </a:defRPr>
            </a:pPr>
            <a:r>
              <a:t>Сценарии, переходы и основания ответов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4069080"/>
            <a:ext cx="5230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F344B"/>
                </a:solidFill>
                <a:latin typeface="Segoe UI"/>
              </a:defRPr>
            </a:pPr>
            <a:r>
              <a:t>mined-coverage / mined-review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4462272"/>
            <a:ext cx="52303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07487"/>
                </a:solidFill>
                <a:latin typeface="Segoe UI"/>
              </a:defRPr>
            </a:pPr>
            <a:r>
              <a:t>Охват предикатов и ограничения разбора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4965192"/>
            <a:ext cx="5230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F344B"/>
                </a:solidFill>
                <a:latin typeface="Segoe UI"/>
              </a:defRPr>
            </a:pPr>
            <a:r>
              <a:t>token-lengths / length-rejections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5358383"/>
            <a:ext cx="52303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07487"/>
                </a:solidFill>
                <a:latin typeface="Segoe UI"/>
              </a:defRPr>
            </a:pPr>
            <a:r>
              <a:t>Длины примеров и причины отбраковки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989320"/>
            <a:ext cx="1091793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F344B"/>
                </a:solidFill>
                <a:latin typeface="Segoe UI"/>
              </a:defRPr>
            </a:pPr>
            <a:r>
              <a:t>Число строк Extraction может быть больше числа диалогов.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12 / КОНТРОЛЬ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Проверяем данные до запуска обучения.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Проверки действуют на уровне всего эпизода и всех трёх представлений.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9533534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03704"/>
            <a:ext cx="5340096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432304"/>
            <a:ext cx="438912" cy="438912"/>
          </a:xfrm>
          <a:prstGeom prst="ellipse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505456"/>
            <a:ext cx="4389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22337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5" y="2423160"/>
            <a:ext cx="42336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60" b="1">
                <a:solidFill>
                  <a:srgbClr val="122337"/>
                </a:solidFill>
                <a:latin typeface="Segoe UI"/>
              </a:defRPr>
            </a:pPr>
            <a:r>
              <a:t>Воспроизвести состояние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5" y="3054096"/>
            <a:ext cx="417880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10" b="0">
                <a:solidFill>
                  <a:srgbClr val="607487"/>
                </a:solidFill>
                <a:latin typeface="Segoe UI"/>
              </a:defRPr>
            </a:pPr>
            <a:r>
              <a:t>Переходы памяти дают ожидаемый ответ.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203704"/>
            <a:ext cx="5340096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4808" y="2432304"/>
            <a:ext cx="438912" cy="438912"/>
          </a:xfrm>
          <a:prstGeom prst="ellipse">
            <a:avLst/>
          </a:prstGeom>
          <a:solidFill>
            <a:srgbClr val="97C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505456"/>
            <a:ext cx="4389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22337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423160"/>
            <a:ext cx="42336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60" b="1">
                <a:solidFill>
                  <a:srgbClr val="122337"/>
                </a:solidFill>
                <a:latin typeface="Segoe UI"/>
              </a:defRPr>
            </a:pPr>
            <a:r>
              <a:t>Разделить train / validation /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3054096"/>
            <a:ext cx="417880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10" b="0">
                <a:solidFill>
                  <a:srgbClr val="607487"/>
                </a:solidFill>
                <a:latin typeface="Segoe UI"/>
              </a:defRPr>
            </a:pPr>
            <a:r>
              <a:t>Проверить дубли и пересечения сценариев.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77056"/>
            <a:ext cx="5340096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4105656"/>
            <a:ext cx="438912" cy="438912"/>
          </a:xfrm>
          <a:prstGeom prst="ellipse">
            <a:avLst/>
          </a:prstGeom>
          <a:solidFill>
            <a:srgbClr val="FF9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178808"/>
            <a:ext cx="4389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22337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5" y="4096512"/>
            <a:ext cx="42336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60" b="1">
                <a:solidFill>
                  <a:srgbClr val="122337"/>
                </a:solidFill>
                <a:latin typeface="Segoe UI"/>
              </a:defRPr>
            </a:pPr>
            <a:r>
              <a:t>Применить команды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3895" y="4727448"/>
            <a:ext cx="417880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10" b="0">
                <a:solidFill>
                  <a:srgbClr val="607487"/>
                </a:solidFill>
                <a:latin typeface="Segoe UI"/>
              </a:defRPr>
            </a:pPr>
            <a:r>
              <a:t>Команда даёт эталонное изменение.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3877056"/>
            <a:ext cx="5340096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64808" y="4105656"/>
            <a:ext cx="438912" cy="438912"/>
          </a:xfrm>
          <a:prstGeom prst="ellipse">
            <a:avLst/>
          </a:prstGeom>
          <a:solidFill>
            <a:srgbClr val="B6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4178808"/>
            <a:ext cx="4389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22337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096512"/>
            <a:ext cx="42336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60" b="1">
                <a:solidFill>
                  <a:srgbClr val="122337"/>
                </a:solidFill>
                <a:latin typeface="Segoe UI"/>
              </a:defRPr>
            </a:pPr>
            <a:r>
              <a:t>Проверить длину ChatML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727448"/>
            <a:ext cx="417880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10" b="0">
                <a:solidFill>
                  <a:srgbClr val="607487"/>
                </a:solidFill>
                <a:latin typeface="Segoe UI"/>
              </a:defRPr>
            </a:pPr>
            <a:r>
              <a:t>Длинный эпизод заменяется целиком.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971032"/>
            <a:ext cx="10945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410" b="0">
                <a:solidFill>
                  <a:srgbClr val="607487"/>
                </a:solidFill>
                <a:latin typeface="Segoe UI"/>
              </a:defRPr>
            </a:pPr>
            <a:r>
              <a:t>Общие шаблоны и словарь между выборками допустимы: это не тест на полностью новую лексику.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13 / ОБУЧЕНИЕ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Предобученный GPT-2 → ChatML → SFT.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D3DFEA"/>
                </a:solidFill>
                <a:latin typeface="Segoe UI"/>
              </a:defRPr>
            </a:pPr>
            <a:r>
              <a:t>Trainer работает отдельно через CLI. В интерфейс генерации обучение не встроено.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266883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D3DFEA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D3DFEA"/>
                </a:solidFill>
                <a:latin typeface="Segoe UI"/>
              </a:defRPr>
            </a:pPr>
            <a:r>
              <a:t>14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21992"/>
            <a:ext cx="7150608" cy="3621024"/>
          </a:xfrm>
          <a:prstGeom prst="roundRect">
            <a:avLst>
              <a:gd name="adj" fmla="val 12000"/>
            </a:avLst>
          </a:prstGeom>
          <a:solidFill>
            <a:srgbClr val="1C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505456"/>
            <a:ext cx="6601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ПРИМЕР ЗАПУСКА: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017520"/>
            <a:ext cx="6592824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FFFFFF"/>
                </a:solidFill>
                <a:latin typeface="Consolas"/>
              </a:defRPr>
            </a:pPr>
            <a:r>
              <a:t>python -m `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FFFFFF"/>
                </a:solidFill>
                <a:latin typeface="Consolas"/>
              </a:defRPr>
            </a:pPr>
            <a:r>
              <a:t>  semantic_corpus.dialogue_generator.trainer `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FFFFFF"/>
                </a:solidFill>
                <a:latin typeface="Consolas"/>
              </a:defRPr>
            </a:pPr>
            <a:r>
              <a:t>  train --view extraction --model gpt2 `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FFFFFF"/>
                </a:solidFill>
                <a:latin typeface="Consolas"/>
              </a:defRPr>
            </a:pPr>
            <a:r>
              <a:t>  --data artifacts/my-dialogues/extraction `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FFFFFF"/>
                </a:solidFill>
                <a:latin typeface="Consolas"/>
              </a:defRPr>
            </a:pPr>
            <a:r>
              <a:t>  --out artifacts/training/gpt2-extraction `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680" b="0">
                <a:solidFill>
                  <a:srgbClr val="FFFFFF"/>
                </a:solidFill>
                <a:latin typeface="Consolas"/>
              </a:defRPr>
            </a:pPr>
            <a:r>
              <a:t>  --epochs 3 --max-length 768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5504688"/>
            <a:ext cx="6592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D3DFEA"/>
                </a:solidFill>
                <a:latin typeface="Segoe UI"/>
              </a:defRPr>
            </a:pPr>
            <a:r>
              <a:t>PowerShell · путь к датасету замените на свой.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247802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45D6AF"/>
                </a:solidFill>
                <a:latin typeface="Segoe UI"/>
              </a:defRPr>
            </a:pPr>
            <a: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88950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39" b="0">
                <a:solidFill>
                  <a:srgbClr val="FFFFFF"/>
                </a:solidFill>
                <a:latin typeface="Segoe UI"/>
              </a:defRPr>
            </a:pPr>
            <a:r>
              <a:t>Обновляет веса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3557016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97CDF8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3968496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39" b="0">
                <a:solidFill>
                  <a:srgbClr val="FFFFFF"/>
                </a:solidFill>
                <a:latin typeface="Segoe UI"/>
              </a:defRPr>
            </a:pPr>
            <a:r>
              <a:t>Выбор лучшей модели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463600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936D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5047488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39" b="0">
                <a:solidFill>
                  <a:srgbClr val="FFFFFF"/>
                </a:solidFill>
                <a:latin typeface="Segoe UI"/>
              </a:defRPr>
            </a:pPr>
            <a:r>
              <a:t>Оценивает итоговую модель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65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607487"/>
                </a:solidFill>
                <a:latin typeface="Segoe UI"/>
              </a:defRPr>
            </a:pPr>
            <a:r>
              <a:t>14 / КАК ОЦЕНИВАТЬ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3200" b="1">
                <a:solidFill>
                  <a:srgbClr val="122337"/>
                </a:solidFill>
                <a:latin typeface="Segoe UI"/>
              </a:defRPr>
            </a:pPr>
            <a:r>
              <a:t>Измеряем ответы и обновление памяти отдельно.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51790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520" b="0">
                <a:solidFill>
                  <a:srgbClr val="607487"/>
                </a:solidFill>
                <a:latin typeface="Segoe UI"/>
              </a:defRPr>
            </a:pPr>
            <a:r>
              <a:t>Валидный датасет даёт основу для эксперимента; качество модели измеряется после SFT.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3716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25603"/>
          </a:xfrm>
          <a:prstGeom prst="rect">
            <a:avLst/>
          </a:prstGeom>
          <a:solidFill>
            <a:srgbClr val="45D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860" b="0">
                <a:solidFill>
                  <a:srgbClr val="607487"/>
                </a:solidFill>
                <a:latin typeface="Segoe UI"/>
              </a:defRPr>
            </a:pPr>
            <a:r>
              <a:t>QA-SRL GEN  /  ДИАЛОГОВЫЕ ДАТАСЕТЫ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0138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07487"/>
                </a:solidFill>
                <a:latin typeface="Segoe UI"/>
              </a:defRPr>
            </a:pPr>
            <a:r>
              <a:t>15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12848"/>
            <a:ext cx="5340096" cy="2295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4496" y="2212848"/>
            <a:ext cx="5340096" cy="2295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78024"/>
            <a:ext cx="48097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607487"/>
                </a:solidFill>
                <a:latin typeface="Segoe UI"/>
              </a:defRPr>
            </a:pPr>
            <a:r>
              <a:t>MEMORY /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63240"/>
            <a:ext cx="480974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122337"/>
                </a:solidFill>
                <a:latin typeface="Segoe UI"/>
              </a:defRPr>
            </a:pPr>
            <a:r>
              <a:t>Точность ответа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122337"/>
                </a:solidFill>
                <a:latin typeface="Segoe UI"/>
              </a:defRPr>
            </a:pPr>
            <a:r>
              <a:t>Ошибки yes / no / unknown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122337"/>
                </a:solidFill>
                <a:latin typeface="Segoe UI"/>
              </a:defRPr>
            </a:pPr>
            <a:r>
              <a:t>Результаты по типам задач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78024"/>
            <a:ext cx="48097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607487"/>
                </a:solidFill>
                <a:latin typeface="Segoe UI"/>
              </a:defRPr>
            </a:pPr>
            <a:r>
              <a:t>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063240"/>
            <a:ext cx="480974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30" b="0">
                <a:solidFill>
                  <a:srgbClr val="122337"/>
                </a:solidFill>
                <a:latin typeface="Segoe UI"/>
              </a:defRPr>
            </a:pPr>
            <a:r>
              <a:t>Валидность и применение команд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30" b="0">
                <a:solidFill>
                  <a:srgbClr val="122337"/>
                </a:solidFill>
                <a:latin typeface="Segoe UI"/>
              </a:defRPr>
            </a:pPr>
            <a:r>
              <a:t>Совпадение изменения и состояния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930" b="0">
                <a:solidFill>
                  <a:srgbClr val="122337"/>
                </a:solidFill>
                <a:latin typeface="Segoe UI"/>
              </a:defRPr>
            </a:pPr>
            <a:r>
              <a:t>Ложные изменения на NO_CHANGE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873752"/>
            <a:ext cx="11000232" cy="1243584"/>
          </a:xfrm>
          <a:prstGeom prst="roundRect">
            <a:avLst>
              <a:gd name="adj" fmla="val 12000"/>
            </a:avLst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093208"/>
            <a:ext cx="104424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45D6AF"/>
                </a:solidFill>
                <a:latin typeface="Segoe UI"/>
              </a:defRPr>
            </a:pPr>
            <a:r>
              <a:t>СЛЕДУЮЩАЯ ИТЕРАЦИЯ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104424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820" b="1">
                <a:solidFill>
                  <a:srgbClr val="FFFFFF"/>
                </a:solidFill>
                <a:latin typeface="Segoe UI"/>
              </a:defRPr>
            </a:pPr>
            <a:r>
              <a:t>Разнообразие времён → точечные контрасты → проверка цепочки Extraction → 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диалоговых датасетов</dc:title>
  <dc:subject>QA-SRL Gen: сценарии, память, Extraction, ChatML и SFT</dc:subject>
  <dc:creator>QA-SRL Gen</dc:creator>
  <cp:keywords>dialogue, dataset, extraction, memory, history, GPT-2, SFT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